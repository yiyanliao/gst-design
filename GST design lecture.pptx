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75" r:id="rId4"/>
    <p:sldId id="276" r:id="rId5"/>
    <p:sldId id="281" r:id="rId6"/>
    <p:sldId id="291" r:id="rId7"/>
    <p:sldId id="296" r:id="rId8"/>
    <p:sldId id="295" r:id="rId9"/>
    <p:sldId id="297" r:id="rId10"/>
    <p:sldId id="278" r:id="rId11"/>
    <p:sldId id="280" r:id="rId12"/>
    <p:sldId id="293" r:id="rId13"/>
    <p:sldId id="294" r:id="rId14"/>
    <p:sldId id="282" r:id="rId15"/>
    <p:sldId id="285" r:id="rId16"/>
    <p:sldId id="286" r:id="rId17"/>
    <p:sldId id="287" r:id="rId18"/>
    <p:sldId id="288" r:id="rId19"/>
    <p:sldId id="289" r:id="rId20"/>
    <p:sldId id="299" r:id="rId21"/>
    <p:sldId id="306" r:id="rId22"/>
    <p:sldId id="307" r:id="rId23"/>
    <p:sldId id="308" r:id="rId24"/>
    <p:sldId id="300" r:id="rId25"/>
    <p:sldId id="298" r:id="rId26"/>
    <p:sldId id="301" r:id="rId27"/>
    <p:sldId id="302" r:id="rId28"/>
    <p:sldId id="303" r:id="rId29"/>
    <p:sldId id="304" r:id="rId30"/>
    <p:sldId id="305" r:id="rId31"/>
    <p:sldId id="309" r:id="rId32"/>
    <p:sldId id="290" r:id="rId33"/>
    <p:sldId id="283" r:id="rId34"/>
    <p:sldId id="284" r:id="rId35"/>
    <p:sldId id="27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/>
    <p:restoredTop sz="94598"/>
  </p:normalViewPr>
  <p:slideViewPr>
    <p:cSldViewPr snapToGrid="0">
      <p:cViewPr varScale="1">
        <p:scale>
          <a:sx n="151" d="100"/>
          <a:sy n="151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84B92-2635-8E49-8286-7797DAFC1642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DB03D-A8CA-BE47-8036-F170B6BD2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5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1F24-F682-09B5-DC08-5C6B59F69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9C6F1-5D85-4F52-063A-B4099816A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9738-9AC8-8BE7-16DE-56CD89AD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1016-0BA7-0A4B-BE2B-87819F1BAB9B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B45CE-E156-FE04-EE14-4E81A38D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A9B16-39EF-209C-802F-22EEA8B8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6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7893-F13D-E7D8-E955-3335E72F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8A5FB-DDDE-AE4C-B652-9596C83361E1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6E2C-728D-C0E5-83D7-7FA6196E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5666-15A6-C1A2-E6A8-208DC231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A560-4AE9-C0B4-E6ED-CBECF388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B838E-E343-2640-CCD9-D14ECB34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96D1C-985C-3423-FFEF-E3EE2329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71C-8F38-2646-9979-D628C9A9541E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4000B-F145-9508-C3D6-AD7670CA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DD62-D587-0791-2206-C4AADDC3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2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F01D-1FE8-837E-7C23-D45522DE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F704-2A77-196F-45C0-C78D5B308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DEAD4-25ED-2C1C-D3B2-9A077B730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86BEE-B634-6118-B38A-F48A94C5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73C6-DEFA-2345-8117-7CEE4A5E3D9A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ECD1A-CA12-9917-0067-9F8A230B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9CE1B-4E12-9D8F-93EA-CA2CECBF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8A0E-5EDB-0C60-B375-106EE774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65D84-B262-AC31-D8F2-F7BA250C9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475E8-40A0-166C-358B-DBEE69C31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7C6C5-49BC-F08B-C428-62F0A44C9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81934-6FE0-DEBD-C08E-4B52190E1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65044-F835-7906-602C-1A567872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F7B2-A6D3-2D42-B044-90DF29BF4EFE}" type="datetime1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3EDC1D-039E-7024-C220-4866EA76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82756-D3FE-9C87-557D-D736D392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6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B343-3343-BBD2-182B-D3DA5C04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76246-B5E8-46CE-748B-FBE391661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A0BFA-10EC-9943-AA3F-E6C0D25014B4}" type="datetime1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F6E0-D4FB-4601-05C0-FA77E3BF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2EAD7-A5B1-A310-9F07-063AF0F8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5AB4E-A93E-1439-740B-91C15551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F1BDB-4C76-5D44-884A-42B4E20B1374}" type="datetime1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7F79A-5284-81FE-2962-0121858B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4E15F-B0A6-84EE-A598-F0A3BC5C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1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0D8C-8FA2-FCE2-F87A-9EF0CA00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2F372-1B3D-BD17-E38B-2983F0EF6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17FBF-E044-5810-1519-2A8D7AC78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30631-6EFB-C4A6-1551-7B921B69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D55B-3AF3-4B4C-8AA0-6C53EBC09AB5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05F11-0BA5-721F-B2A1-C6627A72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8B5F1-907E-A7FC-1AAA-0FB7547D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68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E0AD-0F7B-97A5-A04F-E929C53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CC58C-6973-9A69-CC5E-5331388AB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4AA4E-79C0-382A-A41C-0B0E50722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C26E3-B7C4-E980-4DE1-5C8108AA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B963-ADA1-D944-BB04-06518E9B3A2A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D0106-1C17-133D-2C4D-103860C3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81701-4310-530A-7DE6-DF0C6E7B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5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F933-0AD8-48A5-E446-7D8B4280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18C85-D45A-2D52-2AF1-6D3A498CC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53E13-796F-4450-12E0-C1795A17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BB8B-201C-4F44-AB12-117DD20B114B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AEFD0-9F51-F165-4095-388467FA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D3FE0-5B73-523C-C0E4-AB8E7820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5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F17CC-0F54-56D7-5674-B39DA2154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21F7C-7842-1DDF-D634-D1B0D7003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1F2FA-8F10-FB23-1AC5-9F7AD133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8CAD-B851-924A-9599-AC0FF295D946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D55ED-340D-6344-4462-63264622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89C1D-3ED1-14E1-7336-D75065C3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0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2CF728-76F2-B47F-7F90-97CA24124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1BC0A-4FED-D488-5F04-C3F574554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C634D-8445-6ACE-CFE1-811F71D1C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CA3AA-0AAB-3444-9B40-12FAC6597B13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D1CC-61B0-0AD3-AB3C-875157DB3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5C3E4-4BE5-3B25-5887-66231DE79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C5095-8595-CC43-BED5-D8EDAD2AE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5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E6A62D-CDCB-104D-DECF-C5E92561B1C3}"/>
              </a:ext>
            </a:extLst>
          </p:cNvPr>
          <p:cNvSpPr txBox="1"/>
          <p:nvPr/>
        </p:nvSpPr>
        <p:spPr>
          <a:xfrm>
            <a:off x="1412239" y="1621383"/>
            <a:ext cx="9367520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De novo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Design of Glutathione Transferases (GSTs) Using Protein Language Model ESM3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5D3AE-D21F-2A09-1FE2-85A6AA9C31B6}"/>
              </a:ext>
            </a:extLst>
          </p:cNvPr>
          <p:cNvSpPr txBox="1"/>
          <p:nvPr/>
        </p:nvSpPr>
        <p:spPr>
          <a:xfrm>
            <a:off x="3608780" y="3931453"/>
            <a:ext cx="49744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Yiyan Liao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School of Life Sciences, Peking University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fld id="{734E8296-E42A-0047-98AE-DBE8C224DB9D}" type="datetime1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4/12/26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F3D83-797E-FB21-1508-15D874D20ADB}"/>
              </a:ext>
            </a:extLst>
          </p:cNvPr>
          <p:cNvSpPr txBox="1"/>
          <p:nvPr/>
        </p:nvSpPr>
        <p:spPr>
          <a:xfrm>
            <a:off x="252282" y="154813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2026 Spring Biochemistry Lab</a:t>
            </a:r>
          </a:p>
        </p:txBody>
      </p:sp>
    </p:spTree>
    <p:extLst>
      <p:ext uri="{BB962C8B-B14F-4D97-AF65-F5344CB8AC3E}">
        <p14:creationId xmlns:p14="http://schemas.microsoft.com/office/powerpoint/2010/main" val="47086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4BEF0-A08B-7679-DD86-D72E4D88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5C622-B76E-E6B8-C271-0A9871BF3820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Table of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54B82-633A-447D-FD13-BBAFE28F8EDF}"/>
              </a:ext>
            </a:extLst>
          </p:cNvPr>
          <p:cNvSpPr txBox="1"/>
          <p:nvPr/>
        </p:nvSpPr>
        <p:spPr>
          <a:xfrm>
            <a:off x="4428715" y="2305615"/>
            <a:ext cx="3334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Protein design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Project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Spaces to explore further</a:t>
            </a:r>
          </a:p>
        </p:txBody>
      </p:sp>
    </p:spTree>
    <p:extLst>
      <p:ext uri="{BB962C8B-B14F-4D97-AF65-F5344CB8AC3E}">
        <p14:creationId xmlns:p14="http://schemas.microsoft.com/office/powerpoint/2010/main" val="78402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A6F3-CDE7-E972-9565-1D969C23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EF579-9751-601D-A923-AF5F7466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06B6B-4C6A-6D0C-3AAE-8D7E9D91A9CE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Table of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BEC06-BD37-5979-BAAC-E3475D0BF2B9}"/>
              </a:ext>
            </a:extLst>
          </p:cNvPr>
          <p:cNvSpPr txBox="1"/>
          <p:nvPr/>
        </p:nvSpPr>
        <p:spPr>
          <a:xfrm>
            <a:off x="4428715" y="2305615"/>
            <a:ext cx="3334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Protein design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Project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Spaces to explore further</a:t>
            </a:r>
          </a:p>
        </p:txBody>
      </p:sp>
    </p:spTree>
    <p:extLst>
      <p:ext uri="{BB962C8B-B14F-4D97-AF65-F5344CB8AC3E}">
        <p14:creationId xmlns:p14="http://schemas.microsoft.com/office/powerpoint/2010/main" val="9633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2F907-27F6-FAFC-075C-6B614A0B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8767C-BB82-C4E9-D8D2-27DA9EE024D1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Protein descriptors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3EFCE58-9259-F841-2083-86D110E509AC}"/>
              </a:ext>
            </a:extLst>
          </p:cNvPr>
          <p:cNvGrpSpPr/>
          <p:nvPr/>
        </p:nvGrpSpPr>
        <p:grpSpPr>
          <a:xfrm>
            <a:off x="1040408" y="1470256"/>
            <a:ext cx="10204320" cy="3392554"/>
            <a:chOff x="926981" y="1832088"/>
            <a:chExt cx="10204320" cy="339255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2300FC8-ACCD-96FB-E1F1-E4A0760B35A7}"/>
                </a:ext>
              </a:extLst>
            </p:cNvPr>
            <p:cNvGrpSpPr/>
            <p:nvPr/>
          </p:nvGrpSpPr>
          <p:grpSpPr>
            <a:xfrm>
              <a:off x="8386533" y="1832088"/>
              <a:ext cx="2744768" cy="2970505"/>
              <a:chOff x="1071333" y="1630747"/>
              <a:chExt cx="2744768" cy="2970505"/>
            </a:xfrm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FCF732B1-C76D-41AC-3412-5CEA58725766}"/>
                  </a:ext>
                </a:extLst>
              </p:cNvPr>
              <p:cNvSpPr/>
              <p:nvPr/>
            </p:nvSpPr>
            <p:spPr>
              <a:xfrm>
                <a:off x="1071333" y="1630747"/>
                <a:ext cx="2744768" cy="29705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B539A5-7DBA-A655-B3E2-180505203E43}"/>
                  </a:ext>
                </a:extLst>
              </p:cNvPr>
              <p:cNvSpPr txBox="1"/>
              <p:nvPr/>
            </p:nvSpPr>
            <p:spPr>
              <a:xfrm>
                <a:off x="1105227" y="1859339"/>
                <a:ext cx="266007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Energy-transfer acceptor. Its role is to transduce the blue chemiluminescence of the protein aequorin into green fluorescent light by energy transfer. Fluoresces in vivo upon receiving energy from the Ca</a:t>
                </a:r>
                <a:r>
                  <a:rPr lang="en-US" sz="1600" baseline="30000" dirty="0"/>
                  <a:t>2+</a:t>
                </a:r>
                <a:r>
                  <a:rPr lang="en-US" sz="1600" dirty="0"/>
                  <a:t>-activated photoprotein aequorin.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FBE1F14-8756-F319-D580-CAF079E2BA8E}"/>
                </a:ext>
              </a:extLst>
            </p:cNvPr>
            <p:cNvSpPr txBox="1"/>
            <p:nvPr/>
          </p:nvSpPr>
          <p:spPr>
            <a:xfrm>
              <a:off x="9131017" y="4855310"/>
              <a:ext cx="1069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Function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418D21C-65A8-2D8C-2995-3A079274AE2C}"/>
                </a:ext>
              </a:extLst>
            </p:cNvPr>
            <p:cNvGrpSpPr/>
            <p:nvPr/>
          </p:nvGrpSpPr>
          <p:grpSpPr>
            <a:xfrm>
              <a:off x="926981" y="1832088"/>
              <a:ext cx="2744768" cy="2970505"/>
              <a:chOff x="5071912" y="1984267"/>
              <a:chExt cx="2744768" cy="29705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D57D651-D520-3904-2127-79D8C11B8CDD}"/>
                  </a:ext>
                </a:extLst>
              </p:cNvPr>
              <p:cNvSpPr txBox="1"/>
              <p:nvPr/>
            </p:nvSpPr>
            <p:spPr>
              <a:xfrm>
                <a:off x="5114260" y="2157050"/>
                <a:ext cx="2660072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MSKGEELFTGVVPILVELDGDVNGHKFSVSGEGEGDATYGKLTLKFICTTGKLPVPWPTLVTTFSYGVQCFSRYPDHMKQHDFFKSAMPEGYVQERTIFFKDDGNYKTRAEVKFEGDTLVNRIELKGIDFKEDGNILGHKLEYNYNSHNVYIMADKQKNGIKVNFKIRHNIEDGSVQLADHYQQNTPIGDGPVLLPDNHYLSTQSALSKDPNEKRDHMVLLEFVTAAGITHGMDELYK</a:t>
                </a:r>
              </a:p>
            </p:txBody>
          </p:sp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A4D0AF17-029C-FBE4-F775-1025D320811F}"/>
                  </a:ext>
                </a:extLst>
              </p:cNvPr>
              <p:cNvSpPr/>
              <p:nvPr/>
            </p:nvSpPr>
            <p:spPr>
              <a:xfrm>
                <a:off x="5071912" y="1984267"/>
                <a:ext cx="2744768" cy="297050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A9F5818-D1AB-4F5F-1243-EB5BA07118E8}"/>
                </a:ext>
              </a:extLst>
            </p:cNvPr>
            <p:cNvSpPr txBox="1"/>
            <p:nvPr/>
          </p:nvSpPr>
          <p:spPr>
            <a:xfrm>
              <a:off x="1685916" y="4855310"/>
              <a:ext cx="1223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Sequence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526A0550-A35D-4A3D-E9E8-BE7ACCC1C880}"/>
                </a:ext>
              </a:extLst>
            </p:cNvPr>
            <p:cNvSpPr/>
            <p:nvPr/>
          </p:nvSpPr>
          <p:spPr>
            <a:xfrm>
              <a:off x="4648573" y="1832088"/>
              <a:ext cx="2743200" cy="297050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green spiral object with lines&#10;&#10;AI-generated content may be incorrect.">
              <a:extLst>
                <a:ext uri="{FF2B5EF4-FFF2-40B4-BE49-F238E27FC236}">
                  <a16:creationId xmlns:a16="http://schemas.microsoft.com/office/drawing/2014/main" id="{010D27F3-337A-7227-7306-E25D19660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9055" y="2060680"/>
              <a:ext cx="2043225" cy="238776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59E629-B9EC-3E2B-1721-9C038E2D61A6}"/>
                </a:ext>
              </a:extLst>
            </p:cNvPr>
            <p:cNvSpPr txBox="1"/>
            <p:nvPr/>
          </p:nvSpPr>
          <p:spPr>
            <a:xfrm>
              <a:off x="5370259" y="4855310"/>
              <a:ext cx="1120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Structure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0349EA-16D7-FBE3-401F-42129772ADB5}"/>
              </a:ext>
            </a:extLst>
          </p:cNvPr>
          <p:cNvSpPr txBox="1"/>
          <p:nvPr/>
        </p:nvSpPr>
        <p:spPr>
          <a:xfrm>
            <a:off x="1395514" y="5598157"/>
            <a:ext cx="94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We believe: There are</a:t>
            </a:r>
            <a:r>
              <a:rPr lang="zh-CN" altLang="en-US" b="1" dirty="0"/>
              <a:t> </a:t>
            </a:r>
            <a:r>
              <a:rPr lang="en-US" altLang="zh-CN" b="1" dirty="0"/>
              <a:t>latent space mapping relationships between these modalities.</a:t>
            </a:r>
            <a:endParaRPr lang="en-US" b="1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9BA8772-FE08-0A62-3CF9-B95B878AF200}"/>
              </a:ext>
            </a:extLst>
          </p:cNvPr>
          <p:cNvCxnSpPr/>
          <p:nvPr/>
        </p:nvCxnSpPr>
        <p:spPr>
          <a:xfrm>
            <a:off x="7640699" y="3014305"/>
            <a:ext cx="722613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C0D3962-08B5-167B-5EAB-1ACB9027DC82}"/>
              </a:ext>
            </a:extLst>
          </p:cNvPr>
          <p:cNvCxnSpPr/>
          <p:nvPr/>
        </p:nvCxnSpPr>
        <p:spPr>
          <a:xfrm>
            <a:off x="3881499" y="3014305"/>
            <a:ext cx="722613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Arc 71">
            <a:extLst>
              <a:ext uri="{FF2B5EF4-FFF2-40B4-BE49-F238E27FC236}">
                <a16:creationId xmlns:a16="http://schemas.microsoft.com/office/drawing/2014/main" id="{E57DEF23-94E8-C425-4B03-11B16BC58937}"/>
              </a:ext>
            </a:extLst>
          </p:cNvPr>
          <p:cNvSpPr/>
          <p:nvPr/>
        </p:nvSpPr>
        <p:spPr>
          <a:xfrm>
            <a:off x="3415800" y="4054473"/>
            <a:ext cx="5435600" cy="1104679"/>
          </a:xfrm>
          <a:prstGeom prst="arc">
            <a:avLst>
              <a:gd name="adj1" fmla="val 93449"/>
              <a:gd name="adj2" fmla="val 10742805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0C1A94B-FBEE-C934-F8E1-F15A4B455BCD}"/>
              </a:ext>
            </a:extLst>
          </p:cNvPr>
          <p:cNvCxnSpPr>
            <a:cxnSpLocks/>
          </p:cNvCxnSpPr>
          <p:nvPr/>
        </p:nvCxnSpPr>
        <p:spPr>
          <a:xfrm flipH="1" flipV="1">
            <a:off x="3407334" y="4530611"/>
            <a:ext cx="9063" cy="4507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B5FE0BE-00BF-B9F6-0A06-FC4A76A9D785}"/>
              </a:ext>
            </a:extLst>
          </p:cNvPr>
          <p:cNvCxnSpPr>
            <a:cxnSpLocks/>
          </p:cNvCxnSpPr>
          <p:nvPr/>
        </p:nvCxnSpPr>
        <p:spPr>
          <a:xfrm flipV="1">
            <a:off x="8813225" y="4525744"/>
            <a:ext cx="13015" cy="1376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73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C9BE8-5BEB-A8EB-3807-C1FB3D32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ECCED-5474-329B-A66E-ADD2E91B726E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Protein backbone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86D13-3617-95D4-9E9B-57F6770320C7}"/>
              </a:ext>
            </a:extLst>
          </p:cNvPr>
          <p:cNvSpPr txBox="1"/>
          <p:nvPr/>
        </p:nvSpPr>
        <p:spPr>
          <a:xfrm>
            <a:off x="795867" y="948267"/>
            <a:ext cx="20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RFdiffusion</a:t>
            </a:r>
            <a:r>
              <a:rPr lang="en-US" dirty="0"/>
              <a:t> (RFD)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D1D15C-A70D-F599-B181-3649C5CD6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t="4321" r="59653" b="73827"/>
          <a:stretch>
            <a:fillRect/>
          </a:stretch>
        </p:blipFill>
        <p:spPr bwMode="auto">
          <a:xfrm>
            <a:off x="861637" y="1642534"/>
            <a:ext cx="5190018" cy="262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768DC2A-6BF8-7B71-48C1-20B7C7310A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1" t="4075" b="29752"/>
          <a:stretch>
            <a:fillRect/>
          </a:stretch>
        </p:blipFill>
        <p:spPr bwMode="auto">
          <a:xfrm>
            <a:off x="6259511" y="787400"/>
            <a:ext cx="4867797" cy="593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7F78CD-A613-E0D6-2EE4-39D4CC18EC35}"/>
              </a:ext>
            </a:extLst>
          </p:cNvPr>
          <p:cNvSpPr txBox="1"/>
          <p:nvPr/>
        </p:nvSpPr>
        <p:spPr>
          <a:xfrm>
            <a:off x="1456739" y="4559167"/>
            <a:ext cx="3999813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Backbone: N-C</a:t>
            </a:r>
            <a:r>
              <a:rPr lang="el-GR" dirty="0"/>
              <a:t>α-</a:t>
            </a:r>
            <a:r>
              <a:rPr lang="en-US" dirty="0"/>
              <a:t>C only.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Sample from complete noise.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Unconditional: valid backbones.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Conditional: functional descriptors.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2352C-1DE6-3FC7-54B3-C78CCB0A105F}"/>
              </a:ext>
            </a:extLst>
          </p:cNvPr>
          <p:cNvSpPr txBox="1"/>
          <p:nvPr/>
        </p:nvSpPr>
        <p:spPr>
          <a:xfrm>
            <a:off x="0" y="6550223"/>
            <a:ext cx="4305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Alisa </a:t>
            </a:r>
            <a:r>
              <a:rPr lang="en-US" sz="1400" dirty="0" err="1"/>
              <a:t>Khramushin</a:t>
            </a:r>
            <a:r>
              <a:rPr lang="en-US" sz="1400" dirty="0"/>
              <a:t>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Curr </a:t>
            </a:r>
            <a:r>
              <a:rPr lang="en-US" sz="1400" i="1" dirty="0" err="1"/>
              <a:t>Opin</a:t>
            </a:r>
            <a:r>
              <a:rPr lang="en-US" sz="1400" i="1" dirty="0"/>
              <a:t> Struct Biol.</a:t>
            </a:r>
            <a:r>
              <a:rPr lang="en-US" sz="1400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38119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: The LigandMPNN model.">
            <a:extLst>
              <a:ext uri="{FF2B5EF4-FFF2-40B4-BE49-F238E27FC236}">
                <a16:creationId xmlns:a16="http://schemas.microsoft.com/office/drawing/2014/main" id="{AD0BED2F-B5FD-8435-4128-186137CC6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70" y="3408342"/>
            <a:ext cx="5520266" cy="2773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911E3-19A6-1ED3-84C2-71D85B64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C28F3-BCB2-F014-7653-A02FB9F4E84E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Sequence design model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CC6AB-3EC7-C2DD-5FA1-91B99E3C58D9}"/>
              </a:ext>
            </a:extLst>
          </p:cNvPr>
          <p:cNvSpPr txBox="1"/>
          <p:nvPr/>
        </p:nvSpPr>
        <p:spPr>
          <a:xfrm>
            <a:off x="0" y="6334780"/>
            <a:ext cx="3676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Justas </a:t>
            </a:r>
            <a:r>
              <a:rPr lang="en-US" sz="1400" dirty="0" err="1"/>
              <a:t>Dauparas</a:t>
            </a:r>
            <a:r>
              <a:rPr lang="en-US" sz="1400" dirty="0"/>
              <a:t>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Science.</a:t>
            </a:r>
            <a:r>
              <a:rPr lang="en-US" sz="1400" dirty="0"/>
              <a:t>, 2022</a:t>
            </a:r>
          </a:p>
          <a:p>
            <a:r>
              <a:rPr lang="en-US" sz="1400" dirty="0"/>
              <a:t>Justas </a:t>
            </a:r>
            <a:r>
              <a:rPr lang="en-US" sz="1400" dirty="0" err="1"/>
              <a:t>Dauparas</a:t>
            </a:r>
            <a:r>
              <a:rPr lang="en-US" sz="1400" dirty="0"/>
              <a:t>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Nat. Methods.</a:t>
            </a:r>
            <a:r>
              <a:rPr lang="en-US" sz="1400" dirty="0"/>
              <a:t>, 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F6889D-4F6B-4526-87EC-F3ED4B885B24}"/>
              </a:ext>
            </a:extLst>
          </p:cNvPr>
          <p:cNvGrpSpPr/>
          <p:nvPr/>
        </p:nvGrpSpPr>
        <p:grpSpPr>
          <a:xfrm>
            <a:off x="218651" y="1161113"/>
            <a:ext cx="6275275" cy="2427412"/>
            <a:chOff x="1781919" y="1184275"/>
            <a:chExt cx="8628161" cy="3337560"/>
          </a:xfrm>
        </p:grpSpPr>
        <p:pic>
          <p:nvPicPr>
            <p:cNvPr id="7" name="Picture 6" descr="A diagram of a protein decode code&#10;&#10;AI-generated content may be incorrect.">
              <a:extLst>
                <a:ext uri="{FF2B5EF4-FFF2-40B4-BE49-F238E27FC236}">
                  <a16:creationId xmlns:a16="http://schemas.microsoft.com/office/drawing/2014/main" id="{84CC86E9-6B07-D87D-BBD8-FC137E6E8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2567"/>
            <a:stretch>
              <a:fillRect/>
            </a:stretch>
          </p:blipFill>
          <p:spPr>
            <a:xfrm>
              <a:off x="1781919" y="1184275"/>
              <a:ext cx="8628161" cy="333756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B6ADB6E-4176-5E92-5069-5F6C543D1E41}"/>
                </a:ext>
              </a:extLst>
            </p:cNvPr>
            <p:cNvSpPr/>
            <p:nvPr/>
          </p:nvSpPr>
          <p:spPr>
            <a:xfrm>
              <a:off x="1781919" y="1184275"/>
              <a:ext cx="156948" cy="2804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89BF79E-9972-7657-1A02-F212FABE8F8F}"/>
              </a:ext>
            </a:extLst>
          </p:cNvPr>
          <p:cNvSpPr txBox="1"/>
          <p:nvPr/>
        </p:nvSpPr>
        <p:spPr>
          <a:xfrm>
            <a:off x="2351178" y="378265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ProteinMPNN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BB334-2AEE-D371-05E7-BD76811B5238}"/>
              </a:ext>
            </a:extLst>
          </p:cNvPr>
          <p:cNvSpPr txBox="1"/>
          <p:nvPr/>
        </p:nvSpPr>
        <p:spPr>
          <a:xfrm>
            <a:off x="8542615" y="2905313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LigandMPNN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A0F401-3967-963F-7AA7-28CDD973A3EF}"/>
              </a:ext>
            </a:extLst>
          </p:cNvPr>
          <p:cNvCxnSpPr>
            <a:cxnSpLocks/>
          </p:cNvCxnSpPr>
          <p:nvPr/>
        </p:nvCxnSpPr>
        <p:spPr>
          <a:xfrm>
            <a:off x="6561660" y="804333"/>
            <a:ext cx="0" cy="5833534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16518D-80C8-D1F1-E896-699C51243A82}"/>
              </a:ext>
            </a:extLst>
          </p:cNvPr>
          <p:cNvSpPr txBox="1"/>
          <p:nvPr/>
        </p:nvSpPr>
        <p:spPr>
          <a:xfrm>
            <a:off x="1168385" y="4346107"/>
            <a:ext cx="4379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 backbone atom distances.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amino acids iteratively in a random decoding order.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C0B4A-72ED-5AAF-CAE7-4E6CFA2E7065}"/>
              </a:ext>
            </a:extLst>
          </p:cNvPr>
          <p:cNvSpPr txBox="1"/>
          <p:nvPr/>
        </p:nvSpPr>
        <p:spPr>
          <a:xfrm>
            <a:off x="7221301" y="1240107"/>
            <a:ext cx="41994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Explicitly model all nonprotein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sequences and sidechain conformations.</a:t>
            </a:r>
          </a:p>
        </p:txBody>
      </p:sp>
    </p:spTree>
    <p:extLst>
      <p:ext uri="{BB962C8B-B14F-4D97-AF65-F5344CB8AC3E}">
        <p14:creationId xmlns:p14="http://schemas.microsoft.com/office/powerpoint/2010/main" val="251337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7CE80A82-E8C8-A7AC-8141-CE754775B6A3}"/>
              </a:ext>
            </a:extLst>
          </p:cNvPr>
          <p:cNvGrpSpPr/>
          <p:nvPr/>
        </p:nvGrpSpPr>
        <p:grpSpPr>
          <a:xfrm>
            <a:off x="1443920" y="800002"/>
            <a:ext cx="9216073" cy="2148593"/>
            <a:chOff x="399420" y="1110333"/>
            <a:chExt cx="8408754" cy="1960378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1600614-A7DA-B4CF-8574-AC8036417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420" y="1110333"/>
              <a:ext cx="8408754" cy="19603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B75E3BE-0E78-91B9-D5DD-9C0BBF8E5002}"/>
                </a:ext>
              </a:extLst>
            </p:cNvPr>
            <p:cNvSpPr/>
            <p:nvPr/>
          </p:nvSpPr>
          <p:spPr>
            <a:xfrm>
              <a:off x="419740" y="1167844"/>
              <a:ext cx="337413" cy="2571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48652-0DE0-C792-0C20-46A2E297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B78E6-9764-218B-B499-F3353D106C39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Structure prediction model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2" name="Picture 1" descr="A close-up of a document&#10;&#10;AI-generated content may be incorrect.">
            <a:extLst>
              <a:ext uri="{FF2B5EF4-FFF2-40B4-BE49-F238E27FC236}">
                <a16:creationId xmlns:a16="http://schemas.microsoft.com/office/drawing/2014/main" id="{E6BA63D6-31F2-A3D9-0221-CFA55F23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87" y="4800236"/>
            <a:ext cx="6784294" cy="1843477"/>
          </a:xfrm>
          <a:prstGeom prst="rect">
            <a:avLst/>
          </a:prstGeom>
        </p:spPr>
      </p:pic>
      <p:pic>
        <p:nvPicPr>
          <p:cNvPr id="3" name="Picture 4" descr="Washington Huskies Primary Logo | SPORTS LOGO HISTORY">
            <a:extLst>
              <a:ext uri="{FF2B5EF4-FFF2-40B4-BE49-F238E27FC236}">
                <a16:creationId xmlns:a16="http://schemas.microsoft.com/office/drawing/2014/main" id="{D9DBDD6D-0468-3DFE-C441-EA2E0F4F2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866" y="3718803"/>
            <a:ext cx="338554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16E5F2-3CEC-6639-7B26-515A16A982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5359"/>
          <a:stretch>
            <a:fillRect/>
          </a:stretch>
        </p:blipFill>
        <p:spPr>
          <a:xfrm>
            <a:off x="4488312" y="4145280"/>
            <a:ext cx="362962" cy="341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0EE7D-C0B2-CEDC-5810-CB418C177D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6078"/>
          <a:stretch>
            <a:fillRect/>
          </a:stretch>
        </p:blipFill>
        <p:spPr>
          <a:xfrm>
            <a:off x="6480988" y="4137144"/>
            <a:ext cx="351663" cy="344959"/>
          </a:xfrm>
          <a:prstGeom prst="rect">
            <a:avLst/>
          </a:prstGeom>
        </p:spPr>
      </p:pic>
      <p:pic>
        <p:nvPicPr>
          <p:cNvPr id="8" name="Picture 7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E4199CE9-3F35-BCB8-70B8-605E4514C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7669" y="4111284"/>
            <a:ext cx="389927" cy="36511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85D62A-815D-CDBC-D56C-A697712D40DA}"/>
              </a:ext>
            </a:extLst>
          </p:cNvPr>
          <p:cNvCxnSpPr/>
          <p:nvPr/>
        </p:nvCxnSpPr>
        <p:spPr>
          <a:xfrm>
            <a:off x="2012290" y="4084320"/>
            <a:ext cx="767696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C193711-9BCC-0991-6757-7679115C9B19}"/>
              </a:ext>
            </a:extLst>
          </p:cNvPr>
          <p:cNvSpPr/>
          <p:nvPr/>
        </p:nvSpPr>
        <p:spPr>
          <a:xfrm>
            <a:off x="3327637" y="4013200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760942-49F6-6D40-F19E-3FBCECCF88E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398757" y="3700996"/>
            <a:ext cx="0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F2B76A0-023A-12AB-5AFD-B82AAA54EDF4}"/>
              </a:ext>
            </a:extLst>
          </p:cNvPr>
          <p:cNvSpPr txBox="1"/>
          <p:nvPr/>
        </p:nvSpPr>
        <p:spPr>
          <a:xfrm>
            <a:off x="2195767" y="3362442"/>
            <a:ext cx="24059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RoseTTAFold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All-Atom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714402-40A5-45C2-5A92-991D0A54BF6B}"/>
              </a:ext>
            </a:extLst>
          </p:cNvPr>
          <p:cNvSpPr/>
          <p:nvPr/>
        </p:nvSpPr>
        <p:spPr>
          <a:xfrm>
            <a:off x="4335278" y="4013200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0B8A84-A5E5-D74D-75FC-67ADBD25B39F}"/>
              </a:ext>
            </a:extLst>
          </p:cNvPr>
          <p:cNvSpPr/>
          <p:nvPr/>
        </p:nvSpPr>
        <p:spPr>
          <a:xfrm>
            <a:off x="5342919" y="4013200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E10692-D6E3-F4FB-6E3F-D5C65FAE2C23}"/>
              </a:ext>
            </a:extLst>
          </p:cNvPr>
          <p:cNvSpPr/>
          <p:nvPr/>
        </p:nvSpPr>
        <p:spPr>
          <a:xfrm>
            <a:off x="6350560" y="4013200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D0B241-264B-0D46-ED19-54204BA171E0}"/>
              </a:ext>
            </a:extLst>
          </p:cNvPr>
          <p:cNvSpPr/>
          <p:nvPr/>
        </p:nvSpPr>
        <p:spPr>
          <a:xfrm>
            <a:off x="7358201" y="4011561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86159D-66BB-BFE0-61DA-CC17927792C7}"/>
              </a:ext>
            </a:extLst>
          </p:cNvPr>
          <p:cNvSpPr/>
          <p:nvPr/>
        </p:nvSpPr>
        <p:spPr>
          <a:xfrm>
            <a:off x="8359636" y="4003040"/>
            <a:ext cx="142240" cy="1422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330F0D-12AD-1A91-09D4-25C139585316}"/>
              </a:ext>
            </a:extLst>
          </p:cNvPr>
          <p:cNvCxnSpPr>
            <a:cxnSpLocks/>
          </p:cNvCxnSpPr>
          <p:nvPr/>
        </p:nvCxnSpPr>
        <p:spPr>
          <a:xfrm>
            <a:off x="4406398" y="4011561"/>
            <a:ext cx="0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75C49C-8939-3721-415F-F38D8644759E}"/>
              </a:ext>
            </a:extLst>
          </p:cNvPr>
          <p:cNvSpPr txBox="1"/>
          <p:nvPr/>
        </p:nvSpPr>
        <p:spPr>
          <a:xfrm>
            <a:off x="3727368" y="4447980"/>
            <a:ext cx="1358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AlphaFold 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817B3-AFB1-AAC5-D830-51390200C94B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5416334" y="3694814"/>
            <a:ext cx="2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ED76513-B4A5-9474-B868-ED60F319A9F2}"/>
              </a:ext>
            </a:extLst>
          </p:cNvPr>
          <p:cNvSpPr txBox="1"/>
          <p:nvPr/>
        </p:nvSpPr>
        <p:spPr>
          <a:xfrm>
            <a:off x="4776577" y="3356260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HelixFold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E9876A-35D8-0689-5170-BB969C98753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t="-1" r="77358" b="-9494"/>
          <a:stretch>
            <a:fillRect/>
          </a:stretch>
        </p:blipFill>
        <p:spPr>
          <a:xfrm>
            <a:off x="5494189" y="3672043"/>
            <a:ext cx="578407" cy="35131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ED21E8-9FFB-B079-0256-75FCC4F9B46C}"/>
              </a:ext>
            </a:extLst>
          </p:cNvPr>
          <p:cNvCxnSpPr>
            <a:cxnSpLocks/>
          </p:cNvCxnSpPr>
          <p:nvPr/>
        </p:nvCxnSpPr>
        <p:spPr>
          <a:xfrm>
            <a:off x="6417105" y="4013529"/>
            <a:ext cx="0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E5C7DF-5784-5422-2E47-809F99CD8562}"/>
              </a:ext>
            </a:extLst>
          </p:cNvPr>
          <p:cNvSpPr txBox="1"/>
          <p:nvPr/>
        </p:nvSpPr>
        <p:spPr>
          <a:xfrm>
            <a:off x="6011385" y="4422354"/>
            <a:ext cx="811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Chai-1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8235DB-9AE9-41CE-F81F-15F1A8390FDB}"/>
              </a:ext>
            </a:extLst>
          </p:cNvPr>
          <p:cNvCxnSpPr>
            <a:cxnSpLocks/>
          </p:cNvCxnSpPr>
          <p:nvPr/>
        </p:nvCxnSpPr>
        <p:spPr>
          <a:xfrm flipH="1">
            <a:off x="7424744" y="3699269"/>
            <a:ext cx="2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09071CC-15E9-D294-1CFC-C0BC51120420}"/>
              </a:ext>
            </a:extLst>
          </p:cNvPr>
          <p:cNvSpPr txBox="1"/>
          <p:nvPr/>
        </p:nvSpPr>
        <p:spPr>
          <a:xfrm>
            <a:off x="6999337" y="3373296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Boltz-1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B24C6B-FF0E-170E-E708-2E7BAEB483DF}"/>
              </a:ext>
            </a:extLst>
          </p:cNvPr>
          <p:cNvCxnSpPr>
            <a:cxnSpLocks/>
          </p:cNvCxnSpPr>
          <p:nvPr/>
        </p:nvCxnSpPr>
        <p:spPr>
          <a:xfrm>
            <a:off x="8432954" y="4014546"/>
            <a:ext cx="0" cy="44428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B45815D-56CB-8BAF-9E25-CD56B1E4DAB3}"/>
              </a:ext>
            </a:extLst>
          </p:cNvPr>
          <p:cNvSpPr txBox="1"/>
          <p:nvPr/>
        </p:nvSpPr>
        <p:spPr>
          <a:xfrm>
            <a:off x="7930255" y="4423371"/>
            <a:ext cx="1005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Protenix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7B1BC2-B66B-4A6F-27DE-854CF65CC021}"/>
              </a:ext>
            </a:extLst>
          </p:cNvPr>
          <p:cNvCxnSpPr>
            <a:cxnSpLocks/>
          </p:cNvCxnSpPr>
          <p:nvPr/>
        </p:nvCxnSpPr>
        <p:spPr>
          <a:xfrm>
            <a:off x="287867" y="3324507"/>
            <a:ext cx="11557000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4B8E19D8-1C8E-5AEE-7878-99D56B506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1363" y="3734633"/>
            <a:ext cx="454192" cy="23466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C69FF07-CC98-6456-7486-5CAD1F6EE068}"/>
              </a:ext>
            </a:extLst>
          </p:cNvPr>
          <p:cNvSpPr txBox="1"/>
          <p:nvPr/>
        </p:nvSpPr>
        <p:spPr>
          <a:xfrm>
            <a:off x="1443921" y="2956098"/>
            <a:ext cx="59249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Josh Abramson </a:t>
            </a:r>
            <a:r>
              <a:rPr lang="en-US" altLang="zh-CN" sz="14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et al.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14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Nature.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2024</a:t>
            </a:r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13D7F0-73B3-F793-54BA-9F33A6CEF770}"/>
              </a:ext>
            </a:extLst>
          </p:cNvPr>
          <p:cNvSpPr txBox="1"/>
          <p:nvPr/>
        </p:nvSpPr>
        <p:spPr>
          <a:xfrm>
            <a:off x="6051956" y="799736"/>
            <a:ext cx="460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AlphaFold 3 (AF3) inference process</a:t>
            </a:r>
          </a:p>
        </p:txBody>
      </p:sp>
    </p:spTree>
    <p:extLst>
      <p:ext uri="{BB962C8B-B14F-4D97-AF65-F5344CB8AC3E}">
        <p14:creationId xmlns:p14="http://schemas.microsoft.com/office/powerpoint/2010/main" val="579393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FACBF-D42F-4D08-7EC4-3C63FA45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66FD0-6FBD-672B-5B3B-EAF8D074F8E7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Protein language model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3C2754-89F3-2D6D-3757-4264C6DEC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867" y="717488"/>
            <a:ext cx="4741334" cy="28829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CCA7F2-68DB-8CB5-9134-8B659907C4E0}"/>
              </a:ext>
            </a:extLst>
          </p:cNvPr>
          <p:cNvGrpSpPr/>
          <p:nvPr/>
        </p:nvGrpSpPr>
        <p:grpSpPr>
          <a:xfrm>
            <a:off x="6278033" y="3900503"/>
            <a:ext cx="3124200" cy="2323807"/>
            <a:chOff x="7548034" y="3956225"/>
            <a:chExt cx="3124200" cy="232380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E23B7A3-5BA8-DC8A-AB2D-9A9A20B10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0347" b="51432"/>
            <a:stretch>
              <a:fillRect/>
            </a:stretch>
          </p:blipFill>
          <p:spPr>
            <a:xfrm>
              <a:off x="7548034" y="3956225"/>
              <a:ext cx="3124200" cy="23238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96534D-6EF9-BAC6-493F-0E888FC26C7E}"/>
                </a:ext>
              </a:extLst>
            </p:cNvPr>
            <p:cNvSpPr/>
            <p:nvPr/>
          </p:nvSpPr>
          <p:spPr>
            <a:xfrm>
              <a:off x="7548034" y="3956225"/>
              <a:ext cx="266699" cy="2178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4314E3-4515-DE2D-D3B0-9AEEE56762AB}"/>
              </a:ext>
            </a:extLst>
          </p:cNvPr>
          <p:cNvCxnSpPr>
            <a:cxnSpLocks/>
          </p:cNvCxnSpPr>
          <p:nvPr/>
        </p:nvCxnSpPr>
        <p:spPr>
          <a:xfrm>
            <a:off x="6045193" y="815268"/>
            <a:ext cx="0" cy="5833534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0F3C759-C9EF-7310-A10E-F3B4B44091C4}"/>
              </a:ext>
            </a:extLst>
          </p:cNvPr>
          <p:cNvSpPr txBox="1"/>
          <p:nvPr/>
        </p:nvSpPr>
        <p:spPr>
          <a:xfrm>
            <a:off x="6045193" y="6545738"/>
            <a:ext cx="5192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Maxim Zvyagin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Int. J. High Perform. </a:t>
            </a:r>
            <a:r>
              <a:rPr lang="en-US" sz="1400" i="1" dirty="0" err="1"/>
              <a:t>Comput</a:t>
            </a:r>
            <a:r>
              <a:rPr lang="en-US" sz="1400" i="1" dirty="0"/>
              <a:t>. Appl.</a:t>
            </a:r>
            <a:r>
              <a:rPr lang="en-US" sz="1400" dirty="0"/>
              <a:t>, 2023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66E07-AFA1-E134-79D0-866294B13874}"/>
              </a:ext>
            </a:extLst>
          </p:cNvPr>
          <p:cNvSpPr txBox="1"/>
          <p:nvPr/>
        </p:nvSpPr>
        <p:spPr>
          <a:xfrm>
            <a:off x="10183215" y="3824758"/>
            <a:ext cx="1095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GenSLM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09C71D-BD17-3B2D-0DFE-392D4A5B2A91}"/>
              </a:ext>
            </a:extLst>
          </p:cNvPr>
          <p:cNvGrpSpPr/>
          <p:nvPr/>
        </p:nvGrpSpPr>
        <p:grpSpPr>
          <a:xfrm>
            <a:off x="108941" y="979956"/>
            <a:ext cx="5872755" cy="3183015"/>
            <a:chOff x="1023619" y="717488"/>
            <a:chExt cx="6731000" cy="3648181"/>
          </a:xfrm>
        </p:grpSpPr>
        <p:pic>
          <p:nvPicPr>
            <p:cNvPr id="7" name="Picture 6" descr="A close-up of a diagram&#10;&#10;AI-generated content may be incorrect.">
              <a:extLst>
                <a:ext uri="{FF2B5EF4-FFF2-40B4-BE49-F238E27FC236}">
                  <a16:creationId xmlns:a16="http://schemas.microsoft.com/office/drawing/2014/main" id="{4DDAF0E9-6873-A22C-A4EB-6375F7898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5129" r="51832" b="35673"/>
            <a:stretch>
              <a:fillRect/>
            </a:stretch>
          </p:blipFill>
          <p:spPr>
            <a:xfrm>
              <a:off x="1023619" y="717488"/>
              <a:ext cx="6731000" cy="364818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77A69D-6F75-0F9D-211E-0CE847F25C9E}"/>
                </a:ext>
              </a:extLst>
            </p:cNvPr>
            <p:cNvSpPr/>
            <p:nvPr/>
          </p:nvSpPr>
          <p:spPr>
            <a:xfrm>
              <a:off x="1023619" y="717488"/>
              <a:ext cx="388621" cy="440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33714D-14E3-59C7-1317-08A7EB441179}"/>
                </a:ext>
              </a:extLst>
            </p:cNvPr>
            <p:cNvSpPr/>
            <p:nvPr/>
          </p:nvSpPr>
          <p:spPr>
            <a:xfrm>
              <a:off x="5199379" y="717488"/>
              <a:ext cx="388621" cy="440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CA27B8C-F235-DF7D-A563-BDF882D7EF02}"/>
              </a:ext>
            </a:extLst>
          </p:cNvPr>
          <p:cNvSpPr txBox="1"/>
          <p:nvPr/>
        </p:nvSpPr>
        <p:spPr>
          <a:xfrm>
            <a:off x="2544551" y="419614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ESM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694A9E-A219-F573-BF73-7C98E22B47F4}"/>
              </a:ext>
            </a:extLst>
          </p:cNvPr>
          <p:cNvSpPr txBox="1"/>
          <p:nvPr/>
        </p:nvSpPr>
        <p:spPr>
          <a:xfrm>
            <a:off x="-1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Thomas Hayes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Science.</a:t>
            </a:r>
            <a:r>
              <a:rPr lang="en-US" sz="1400" dirty="0"/>
              <a:t>,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A969F-AEEE-99A7-D7E1-ED8D07E96D41}"/>
              </a:ext>
            </a:extLst>
          </p:cNvPr>
          <p:cNvSpPr txBox="1"/>
          <p:nvPr/>
        </p:nvSpPr>
        <p:spPr>
          <a:xfrm>
            <a:off x="1224084" y="4699569"/>
            <a:ext cx="3642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multimodal generative language model that reasons over the sequence, structure, and function of proteins.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6DEC0-FF70-5964-FE1A-CAE9543D90A1}"/>
              </a:ext>
            </a:extLst>
          </p:cNvPr>
          <p:cNvSpPr txBox="1"/>
          <p:nvPr/>
        </p:nvSpPr>
        <p:spPr>
          <a:xfrm>
            <a:off x="9500396" y="4564876"/>
            <a:ext cx="2683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generative pre-trained transformer to capture shorter/local (codon level) interactions.</a:t>
            </a:r>
          </a:p>
        </p:txBody>
      </p:sp>
    </p:spTree>
    <p:extLst>
      <p:ext uri="{BB962C8B-B14F-4D97-AF65-F5344CB8AC3E}">
        <p14:creationId xmlns:p14="http://schemas.microsoft.com/office/powerpoint/2010/main" val="2531363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FA602-41F5-7F52-D81C-D235CA42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94B9-2919-9AEA-7A6B-A99657EC2991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Language-guided protein generation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2" name="Picture 1" descr="A diagram of different types of protein&#10;&#10;AI-generated content may be incorrect.">
            <a:extLst>
              <a:ext uri="{FF2B5EF4-FFF2-40B4-BE49-F238E27FC236}">
                <a16:creationId xmlns:a16="http://schemas.microsoft.com/office/drawing/2014/main" id="{D51CECF6-A6F4-929A-42F2-87E1C9F0E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1" y="828644"/>
            <a:ext cx="6577163" cy="5200712"/>
          </a:xfrm>
          <a:prstGeom prst="rect">
            <a:avLst/>
          </a:prstGeom>
        </p:spPr>
      </p:pic>
      <p:pic>
        <p:nvPicPr>
          <p:cNvPr id="3" name="Picture 2" descr="A diagram of a structure&#10;&#10;AI-generated content may be incorrect.">
            <a:extLst>
              <a:ext uri="{FF2B5EF4-FFF2-40B4-BE49-F238E27FC236}">
                <a16:creationId xmlns:a16="http://schemas.microsoft.com/office/drawing/2014/main" id="{8DD73673-D12F-8CE2-9BEB-F18E9EB1A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85"/>
          <a:stretch>
            <a:fillRect/>
          </a:stretch>
        </p:blipFill>
        <p:spPr>
          <a:xfrm>
            <a:off x="407836" y="2002366"/>
            <a:ext cx="4338459" cy="2853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6A4202-EC99-2BCE-DA70-EFF84AF17A4F}"/>
              </a:ext>
            </a:extLst>
          </p:cNvPr>
          <p:cNvSpPr txBox="1"/>
          <p:nvPr/>
        </p:nvSpPr>
        <p:spPr>
          <a:xfrm>
            <a:off x="2228251" y="146473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31259-FF3A-054C-AE61-FEEB01C097D8}"/>
              </a:ext>
            </a:extLst>
          </p:cNvPr>
          <p:cNvSpPr txBox="1"/>
          <p:nvPr/>
        </p:nvSpPr>
        <p:spPr>
          <a:xfrm>
            <a:off x="0" y="6550223"/>
            <a:ext cx="2970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Fengyuan</a:t>
            </a:r>
            <a:r>
              <a:rPr lang="en-US" sz="1400" dirty="0"/>
              <a:t> Dai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 err="1"/>
              <a:t>bioRxiv</a:t>
            </a:r>
            <a:r>
              <a:rPr lang="en-US" sz="1400" i="1" dirty="0"/>
              <a:t>.</a:t>
            </a:r>
            <a:r>
              <a:rPr lang="en-US" sz="1400" dirty="0"/>
              <a:t>, 2025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751CED-AFE4-679C-6EA5-92C1BB272F3D}"/>
              </a:ext>
            </a:extLst>
          </p:cNvPr>
          <p:cNvGrpSpPr/>
          <p:nvPr/>
        </p:nvGrpSpPr>
        <p:grpSpPr>
          <a:xfrm>
            <a:off x="3971762" y="4622355"/>
            <a:ext cx="1149676" cy="738664"/>
            <a:chOff x="7574935" y="2447638"/>
            <a:chExt cx="1149676" cy="73866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F43FD8C8-7E5A-54DE-29BC-4DD3956E4208}"/>
                </a:ext>
              </a:extLst>
            </p:cNvPr>
            <p:cNvSpPr/>
            <p:nvPr/>
          </p:nvSpPr>
          <p:spPr>
            <a:xfrm>
              <a:off x="7574935" y="2447638"/>
              <a:ext cx="1149675" cy="73866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6CB935-55DD-E949-D234-AEC97F41FBE9}"/>
                </a:ext>
              </a:extLst>
            </p:cNvPr>
            <p:cNvSpPr txBox="1"/>
            <p:nvPr/>
          </p:nvSpPr>
          <p:spPr>
            <a:xfrm>
              <a:off x="7574937" y="2447638"/>
              <a:ext cx="114967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t: text</a:t>
              </a:r>
            </a:p>
            <a:p>
              <a:r>
                <a:rPr lang="en-US" sz="1400" dirty="0"/>
                <a:t>﻿c: structure</a:t>
              </a:r>
            </a:p>
            <a:p>
              <a:r>
                <a:rPr lang="en-US" sz="1400" dirty="0"/>
                <a:t>s: ﻿sequence</a:t>
              </a:r>
            </a:p>
          </p:txBody>
        </p:sp>
      </p:grpSp>
      <p:pic>
        <p:nvPicPr>
          <p:cNvPr id="13" name="Picture 12" descr="A diagram of a structure&#10;&#10;AI-generated content may be incorrect.">
            <a:extLst>
              <a:ext uri="{FF2B5EF4-FFF2-40B4-BE49-F238E27FC236}">
                <a16:creationId xmlns:a16="http://schemas.microsoft.com/office/drawing/2014/main" id="{22E9EB6A-6C95-F496-5D41-685D7783AA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19" t="90428" r="20125" b="2118"/>
          <a:stretch>
            <a:fillRect/>
          </a:stretch>
        </p:blipFill>
        <p:spPr>
          <a:xfrm>
            <a:off x="1162428" y="5127741"/>
            <a:ext cx="2723772" cy="2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4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739F-145F-2F4B-A400-C00770BD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D0772-C703-C6F4-96D0-65C7FA9B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B72EB-290B-18EA-7BFF-5F87F5A1887C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Table of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C865C-6E8F-6425-0E8B-5436F85EB49A}"/>
              </a:ext>
            </a:extLst>
          </p:cNvPr>
          <p:cNvSpPr txBox="1"/>
          <p:nvPr/>
        </p:nvSpPr>
        <p:spPr>
          <a:xfrm>
            <a:off x="4428715" y="2305615"/>
            <a:ext cx="3334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Protein design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Project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Spaces to explore further</a:t>
            </a:r>
          </a:p>
        </p:txBody>
      </p:sp>
    </p:spTree>
    <p:extLst>
      <p:ext uri="{BB962C8B-B14F-4D97-AF65-F5344CB8AC3E}">
        <p14:creationId xmlns:p14="http://schemas.microsoft.com/office/powerpoint/2010/main" val="398925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77CDE-620C-C998-EFC5-CD6A5198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0075C-8EFB-4B0F-2F8B-ED97EA32BB8E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Project overview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orkflow">
            <a:extLst>
              <a:ext uri="{FF2B5EF4-FFF2-40B4-BE49-F238E27FC236}">
                <a16:creationId xmlns:a16="http://schemas.microsoft.com/office/drawing/2014/main" id="{84B7DEBD-EA64-2ABE-8806-E000847A9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595" y="957227"/>
            <a:ext cx="8668808" cy="547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57DA3-D8CB-C451-7EDE-DDB7D42794BE}"/>
              </a:ext>
            </a:extLst>
          </p:cNvPr>
          <p:cNvSpPr txBox="1"/>
          <p:nvPr/>
        </p:nvSpPr>
        <p:spPr>
          <a:xfrm>
            <a:off x="0" y="6550223"/>
            <a:ext cx="336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https://</a:t>
            </a:r>
            <a:r>
              <a:rPr lang="en-US" sz="1400" i="1" dirty="0" err="1"/>
              <a:t>github.com</a:t>
            </a:r>
            <a:r>
              <a:rPr lang="en-US" sz="1400" i="1" dirty="0"/>
              <a:t>/</a:t>
            </a:r>
            <a:r>
              <a:rPr lang="en-US" sz="1400" i="1" dirty="0" err="1"/>
              <a:t>yiyanliao</a:t>
            </a:r>
            <a:r>
              <a:rPr lang="en-US" sz="1400" i="1" dirty="0"/>
              <a:t>/GST-Design</a:t>
            </a:r>
          </a:p>
        </p:txBody>
      </p:sp>
    </p:spTree>
    <p:extLst>
      <p:ext uri="{BB962C8B-B14F-4D97-AF65-F5344CB8AC3E}">
        <p14:creationId xmlns:p14="http://schemas.microsoft.com/office/powerpoint/2010/main" val="531513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39D7A-2DAA-4B58-9941-2B5DC089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A2E25-EEE7-56BA-22C1-6AAA8BFF94A1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Sj26GST binding &amp; catalytic 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m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echanism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6" name="Picture 5" descr="A diagram of a molecule&#10;&#10;AI-generated content may be incorrect.">
            <a:extLst>
              <a:ext uri="{FF2B5EF4-FFF2-40B4-BE49-F238E27FC236}">
                <a16:creationId xmlns:a16="http://schemas.microsoft.com/office/drawing/2014/main" id="{4EF1E808-37BC-8897-31F1-D6F6811CB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22" y="3834465"/>
            <a:ext cx="2670464" cy="24244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569640-8CFB-42CA-4075-722E3AAD6553}"/>
              </a:ext>
            </a:extLst>
          </p:cNvPr>
          <p:cNvSpPr txBox="1"/>
          <p:nvPr/>
        </p:nvSpPr>
        <p:spPr>
          <a:xfrm>
            <a:off x="580722" y="6285819"/>
            <a:ext cx="2862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 Lim et al.,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Protein Sci.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1994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0D413D8-76F2-CEA1-FD26-245DA7FE7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63182" r="10900"/>
          <a:stretch>
            <a:fillRect/>
          </a:stretch>
        </p:blipFill>
        <p:spPr bwMode="auto">
          <a:xfrm>
            <a:off x="3725820" y="3807516"/>
            <a:ext cx="3112815" cy="242440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CD574D-BCB4-20D8-370C-146BE963AA8B}"/>
              </a:ext>
            </a:extLst>
          </p:cNvPr>
          <p:cNvSpPr txBox="1"/>
          <p:nvPr/>
        </p:nvSpPr>
        <p:spPr>
          <a:xfrm>
            <a:off x="3725820" y="6255041"/>
            <a:ext cx="28626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Blessing 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Akumadu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et al.,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Mol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Biochem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Parasitol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2020</a:t>
            </a:r>
          </a:p>
        </p:txBody>
      </p:sp>
      <p:pic>
        <p:nvPicPr>
          <p:cNvPr id="10" name="Picture 7" descr="Details are in the caption following the image">
            <a:extLst>
              <a:ext uri="{FF2B5EF4-FFF2-40B4-BE49-F238E27FC236}">
                <a16:creationId xmlns:a16="http://schemas.microsoft.com/office/drawing/2014/main" id="{F6060DE5-91B0-BCBF-FA63-237986E0B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544" y="744437"/>
            <a:ext cx="4204204" cy="272835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1232D4-B321-A008-1F1B-2C669041741B}"/>
              </a:ext>
            </a:extLst>
          </p:cNvPr>
          <p:cNvSpPr txBox="1"/>
          <p:nvPr/>
        </p:nvSpPr>
        <p:spPr>
          <a:xfrm>
            <a:off x="1369544" y="349973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Akeel Valli et al.,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Proteins.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2022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1E56274C-B955-A84A-48D4-57AA58C72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" t="986" r="58822" b="75506"/>
          <a:stretch>
            <a:fillRect/>
          </a:stretch>
        </p:blipFill>
        <p:spPr bwMode="auto">
          <a:xfrm>
            <a:off x="7627379" y="833293"/>
            <a:ext cx="3788179" cy="289542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F69DFCA2-2934-FF46-10A3-1C7C1D940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879" y="4535900"/>
            <a:ext cx="5029178" cy="7808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C47C56-AECC-18AC-0AA4-B712823E0103}"/>
              </a:ext>
            </a:extLst>
          </p:cNvPr>
          <p:cNvSpPr txBox="1"/>
          <p:nvPr/>
        </p:nvSpPr>
        <p:spPr>
          <a:xfrm>
            <a:off x="7627379" y="3728720"/>
            <a:ext cx="3577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Yuko Shishido et al.,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Chembiochem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2019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A44E52-E607-AED3-CC7E-A9A921D893F6}"/>
              </a:ext>
            </a:extLst>
          </p:cNvPr>
          <p:cNvSpPr txBox="1"/>
          <p:nvPr/>
        </p:nvSpPr>
        <p:spPr>
          <a:xfrm>
            <a:off x="10547534" y="3397077"/>
            <a:ext cx="97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human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D9D66-09FF-F7CA-8221-B19D9A123066}"/>
              </a:ext>
            </a:extLst>
          </p:cNvPr>
          <p:cNvSpPr txBox="1"/>
          <p:nvPr/>
        </p:nvSpPr>
        <p:spPr>
          <a:xfrm>
            <a:off x="7006879" y="531677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www.uniprot.org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uniprotkb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/P08515/entry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380207-E005-031F-62C2-FF0827A51FDC}"/>
              </a:ext>
            </a:extLst>
          </p:cNvPr>
          <p:cNvCxnSpPr>
            <a:cxnSpLocks/>
          </p:cNvCxnSpPr>
          <p:nvPr/>
        </p:nvCxnSpPr>
        <p:spPr>
          <a:xfrm>
            <a:off x="6931769" y="833293"/>
            <a:ext cx="0" cy="5888182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10813-801B-A7D6-2726-091CF7B1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A diagram of a protein&#10;&#10;AI-generated content may be incorrect.">
            <a:extLst>
              <a:ext uri="{FF2B5EF4-FFF2-40B4-BE49-F238E27FC236}">
                <a16:creationId xmlns:a16="http://schemas.microsoft.com/office/drawing/2014/main" id="{39BEAE6E-8A81-D4F8-39C1-3B0AB0F8F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0" y="1049109"/>
            <a:ext cx="5435848" cy="475978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E869797-53D7-7017-B3BE-EB1C9155E9D3}"/>
              </a:ext>
            </a:extLst>
          </p:cNvPr>
          <p:cNvGrpSpPr/>
          <p:nvPr/>
        </p:nvGrpSpPr>
        <p:grpSpPr>
          <a:xfrm>
            <a:off x="5824878" y="1118295"/>
            <a:ext cx="6256500" cy="4621407"/>
            <a:chOff x="3581401" y="-312464"/>
            <a:chExt cx="9028298" cy="66688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1945380-1182-97EA-F0BE-45F91D563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336" t="11243" r="24922" b="71810"/>
            <a:stretch>
              <a:fillRect/>
            </a:stretch>
          </p:blipFill>
          <p:spPr>
            <a:xfrm>
              <a:off x="3581401" y="-312463"/>
              <a:ext cx="2191378" cy="666881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DCC3A4-6F8E-7E47-1E03-84C55E6B8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641" t="28189" r="24922" b="55631"/>
            <a:stretch>
              <a:fillRect/>
            </a:stretch>
          </p:blipFill>
          <p:spPr>
            <a:xfrm>
              <a:off x="5784654" y="-10161"/>
              <a:ext cx="2263140" cy="636651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1EFD84-09EF-81C0-0B0D-257412ECD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641" t="44391" r="24923" b="39437"/>
            <a:stretch>
              <a:fillRect/>
            </a:stretch>
          </p:blipFill>
          <p:spPr>
            <a:xfrm>
              <a:off x="8059669" y="-10162"/>
              <a:ext cx="2263140" cy="636651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07642C-560C-4DE9-E649-B9E257A95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641" t="60564" r="24923" b="33923"/>
            <a:stretch>
              <a:fillRect/>
            </a:stretch>
          </p:blipFill>
          <p:spPr>
            <a:xfrm>
              <a:off x="10322809" y="-10162"/>
              <a:ext cx="2263140" cy="217038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6297E6-0F56-068D-8DC4-3C4C76CBE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941" t="76753" r="7441" b="21358"/>
            <a:stretch>
              <a:fillRect/>
            </a:stretch>
          </p:blipFill>
          <p:spPr>
            <a:xfrm>
              <a:off x="10433378" y="2653974"/>
              <a:ext cx="2176321" cy="46256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6A8C1C-D02E-934C-EEED-D8A6B9627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336" t="11243" r="24922" b="87989"/>
            <a:stretch>
              <a:fillRect/>
            </a:stretch>
          </p:blipFill>
          <p:spPr>
            <a:xfrm>
              <a:off x="5856416" y="-312464"/>
              <a:ext cx="2191378" cy="30230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633683-AA70-7537-080E-C9D1841D7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336" t="11243" r="24922" b="87989"/>
            <a:stretch>
              <a:fillRect/>
            </a:stretch>
          </p:blipFill>
          <p:spPr>
            <a:xfrm>
              <a:off x="8131431" y="-312464"/>
              <a:ext cx="2191378" cy="30230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CC9986-B086-EA45-1BF8-184C49450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336" t="11243" r="24922" b="87989"/>
            <a:stretch>
              <a:fillRect/>
            </a:stretch>
          </p:blipFill>
          <p:spPr>
            <a:xfrm>
              <a:off x="10394571" y="-305588"/>
              <a:ext cx="2191378" cy="30230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7E3BB99-1255-06A8-8617-209F9F02473B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Sj26GST ESM-Scan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D5813A-8C74-2A85-D774-3525CD817056}"/>
              </a:ext>
            </a:extLst>
          </p:cNvPr>
          <p:cNvSpPr txBox="1"/>
          <p:nvPr/>
        </p:nvSpPr>
        <p:spPr>
          <a:xfrm>
            <a:off x="-1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Algorithm from Massimo G Totaro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Protein Sci.</a:t>
            </a:r>
            <a:r>
              <a:rPr lang="en-US" sz="1400" dirty="0"/>
              <a:t>, 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65843D-2CB5-D1C0-E5F0-FE9C24395B2B}"/>
              </a:ext>
            </a:extLst>
          </p:cNvPr>
          <p:cNvSpPr txBox="1"/>
          <p:nvPr/>
        </p:nvSpPr>
        <p:spPr>
          <a:xfrm>
            <a:off x="3060553" y="6086316"/>
            <a:ext cx="6070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Lower scores indicate higher sensitivity and conservation.</a:t>
            </a:r>
          </a:p>
        </p:txBody>
      </p:sp>
    </p:spTree>
    <p:extLst>
      <p:ext uri="{BB962C8B-B14F-4D97-AF65-F5344CB8AC3E}">
        <p14:creationId xmlns:p14="http://schemas.microsoft.com/office/powerpoint/2010/main" val="3449348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5D4FA-F193-C902-816F-5AFD5743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0DABD-80BA-D819-C0C3-94C6D1685CF0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ESM3 - generator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-up of a diagram&#10;&#10;AI-generated content may be incorrect.">
            <a:extLst>
              <a:ext uri="{FF2B5EF4-FFF2-40B4-BE49-F238E27FC236}">
                <a16:creationId xmlns:a16="http://schemas.microsoft.com/office/drawing/2014/main" id="{724FEE9D-E321-4D26-3C0D-E3B580032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29" r="51832" b="35673"/>
          <a:stretch>
            <a:fillRect/>
          </a:stretch>
        </p:blipFill>
        <p:spPr>
          <a:xfrm>
            <a:off x="1023619" y="717488"/>
            <a:ext cx="6731000" cy="3648181"/>
          </a:xfrm>
          <a:prstGeom prst="rect">
            <a:avLst/>
          </a:prstGeom>
        </p:spPr>
      </p:pic>
      <p:pic>
        <p:nvPicPr>
          <p:cNvPr id="8" name="Picture 7" descr="A close-up of a diagram&#10;&#10;AI-generated content may be incorrect.">
            <a:extLst>
              <a:ext uri="{FF2B5EF4-FFF2-40B4-BE49-F238E27FC236}">
                <a16:creationId xmlns:a16="http://schemas.microsoft.com/office/drawing/2014/main" id="{98B12F06-CFCF-2247-CEE6-998F0D3C1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891"/>
          <a:stretch>
            <a:fillRect/>
          </a:stretch>
        </p:blipFill>
        <p:spPr>
          <a:xfrm>
            <a:off x="1629852" y="4543347"/>
            <a:ext cx="9684134" cy="18130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18EBB9-9D5C-1F12-641D-3701237574A9}"/>
              </a:ext>
            </a:extLst>
          </p:cNvPr>
          <p:cNvSpPr/>
          <p:nvPr/>
        </p:nvSpPr>
        <p:spPr>
          <a:xfrm>
            <a:off x="1023619" y="717488"/>
            <a:ext cx="388621" cy="44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8331E-6108-1413-CC5E-E75FAD3853D9}"/>
              </a:ext>
            </a:extLst>
          </p:cNvPr>
          <p:cNvSpPr/>
          <p:nvPr/>
        </p:nvSpPr>
        <p:spPr>
          <a:xfrm>
            <a:off x="5199379" y="717488"/>
            <a:ext cx="388621" cy="44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B6DA82-8465-B0EF-7B2F-F04FB127D172}"/>
              </a:ext>
            </a:extLst>
          </p:cNvPr>
          <p:cNvSpPr/>
          <p:nvPr/>
        </p:nvSpPr>
        <p:spPr>
          <a:xfrm>
            <a:off x="1590038" y="4365669"/>
            <a:ext cx="388621" cy="44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91C9E3-C702-FDDC-0196-46A23CE646C4}"/>
              </a:ext>
            </a:extLst>
          </p:cNvPr>
          <p:cNvSpPr/>
          <p:nvPr/>
        </p:nvSpPr>
        <p:spPr>
          <a:xfrm>
            <a:off x="1629852" y="6135974"/>
            <a:ext cx="5187508" cy="44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F6C5A-28FE-D23F-652E-6995863C42CB}"/>
              </a:ext>
            </a:extLst>
          </p:cNvPr>
          <p:cNvSpPr txBox="1"/>
          <p:nvPr/>
        </p:nvSpPr>
        <p:spPr>
          <a:xfrm>
            <a:off x="-1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Thomas Hayes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Science.</a:t>
            </a:r>
            <a:r>
              <a:rPr lang="en-US" sz="1400" dirty="0"/>
              <a:t>,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DD78D2-D9F7-C094-1E33-DA6185FAB742}"/>
              </a:ext>
            </a:extLst>
          </p:cNvPr>
          <p:cNvSpPr txBox="1"/>
          <p:nvPr/>
        </p:nvSpPr>
        <p:spPr>
          <a:xfrm>
            <a:off x="7680960" y="1585383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Generative masked language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Represent sequence, structure, and function as tracks of discrete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Atom coordinates can be presented to ensure geometric accuracy.</a:t>
            </a:r>
          </a:p>
        </p:txBody>
      </p:sp>
    </p:spTree>
    <p:extLst>
      <p:ext uri="{BB962C8B-B14F-4D97-AF65-F5344CB8AC3E}">
        <p14:creationId xmlns:p14="http://schemas.microsoft.com/office/powerpoint/2010/main" val="2492073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312AA-5BCC-CB1A-F2C9-D31C0602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948CC-168F-E43A-E806-A6FBABCB4257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ESMFold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 - lightweight structural evaluator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Picture 6" descr="A diagram of a cell block&#10;&#10;AI-generated content may be incorrect.">
            <a:extLst>
              <a:ext uri="{FF2B5EF4-FFF2-40B4-BE49-F238E27FC236}">
                <a16:creationId xmlns:a16="http://schemas.microsoft.com/office/drawing/2014/main" id="{68E68DDB-9645-9E99-A213-F2CF57277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" b="69760"/>
          <a:stretch>
            <a:fillRect/>
          </a:stretch>
        </p:blipFill>
        <p:spPr>
          <a:xfrm>
            <a:off x="1210246" y="1898650"/>
            <a:ext cx="9771508" cy="23279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339620-93E4-F62E-7908-4741750FCD4D}"/>
              </a:ext>
            </a:extLst>
          </p:cNvPr>
          <p:cNvSpPr/>
          <p:nvPr/>
        </p:nvSpPr>
        <p:spPr>
          <a:xfrm>
            <a:off x="6784339" y="3759710"/>
            <a:ext cx="3771901" cy="466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58F38-723B-3A83-D882-7DE77DA69AF1}"/>
              </a:ext>
            </a:extLst>
          </p:cNvPr>
          <p:cNvSpPr txBox="1"/>
          <p:nvPr/>
        </p:nvSpPr>
        <p:spPr>
          <a:xfrm>
            <a:off x="2212338" y="4574602"/>
            <a:ext cx="7767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Harness the ESM-2 language model (instead of multiple sequence alignments) to generate accurate structures.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E0598-DD0B-8D18-0B9C-7B7045DA465D}"/>
              </a:ext>
            </a:extLst>
          </p:cNvPr>
          <p:cNvSpPr txBox="1"/>
          <p:nvPr/>
        </p:nvSpPr>
        <p:spPr>
          <a:xfrm>
            <a:off x="-1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Zeming</a:t>
            </a:r>
            <a:r>
              <a:rPr lang="en-US" sz="1400" dirty="0"/>
              <a:t> Lin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Science.</a:t>
            </a:r>
            <a:r>
              <a:rPr lang="en-US" sz="1400" dirty="0"/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395924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5E8C3-9D31-3A25-5981-5C3633F8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06CE2-C799-5FBD-9078-F5554AD1C320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MMseqs2 - sequence identity filter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Figure 1: MMseqs2 searching in a nutshell.">
            <a:extLst>
              <a:ext uri="{FF2B5EF4-FFF2-40B4-BE49-F238E27FC236}">
                <a16:creationId xmlns:a16="http://schemas.microsoft.com/office/drawing/2014/main" id="{6A3E10AE-32AC-A9F1-8B49-7766BDFEE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" y="958416"/>
            <a:ext cx="6122035" cy="514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F32243-7FB7-0585-2FA4-5E2B6380358F}"/>
              </a:ext>
            </a:extLst>
          </p:cNvPr>
          <p:cNvSpPr txBox="1"/>
          <p:nvPr/>
        </p:nvSpPr>
        <p:spPr>
          <a:xfrm>
            <a:off x="7254240" y="1347444"/>
            <a:ext cx="4297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Sensitive protein sequence searching for the analysis of massive data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increasingly sensitive search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UniRef</a:t>
            </a:r>
            <a:r>
              <a:rPr lang="en-US" dirty="0"/>
              <a:t> clustered with different sequence identity.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7CB50-A756-8477-5D00-2BAF565C096D}"/>
              </a:ext>
            </a:extLst>
          </p:cNvPr>
          <p:cNvGrpSpPr/>
          <p:nvPr/>
        </p:nvGrpSpPr>
        <p:grpSpPr>
          <a:xfrm>
            <a:off x="7162801" y="4367004"/>
            <a:ext cx="1470000" cy="1107826"/>
            <a:chOff x="7274560" y="4133324"/>
            <a:chExt cx="1647643" cy="124170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1B83723-D5AA-9006-C955-88CE39C02A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74560" y="4133324"/>
              <a:ext cx="1647643" cy="1241702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AAF350-503D-C575-9E1E-8B3ACE911A40}"/>
                </a:ext>
              </a:extLst>
            </p:cNvPr>
            <p:cNvSpPr/>
            <p:nvPr/>
          </p:nvSpPr>
          <p:spPr>
            <a:xfrm>
              <a:off x="7274560" y="4133324"/>
              <a:ext cx="1647643" cy="124170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904CBBCE-71F6-75B8-05BA-290BE2951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6813" y="4367004"/>
            <a:ext cx="1470000" cy="110782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322CD54-034E-E872-727E-6E0CD77CE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9807" y="4367004"/>
            <a:ext cx="1470000" cy="110782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3FFA17-D5B9-812F-FA2D-54D17672C8DD}"/>
              </a:ext>
            </a:extLst>
          </p:cNvPr>
          <p:cNvSpPr/>
          <p:nvPr/>
        </p:nvSpPr>
        <p:spPr>
          <a:xfrm>
            <a:off x="8799807" y="4367004"/>
            <a:ext cx="1470000" cy="110782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38800-D866-E25A-DFD7-BDA5451923CD}"/>
              </a:ext>
            </a:extLst>
          </p:cNvPr>
          <p:cNvSpPr/>
          <p:nvPr/>
        </p:nvSpPr>
        <p:spPr>
          <a:xfrm>
            <a:off x="10429146" y="4367004"/>
            <a:ext cx="1470000" cy="110782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A4F72-FB58-B6A6-6222-390AFFC9CB8C}"/>
              </a:ext>
            </a:extLst>
          </p:cNvPr>
          <p:cNvSpPr txBox="1"/>
          <p:nvPr/>
        </p:nvSpPr>
        <p:spPr>
          <a:xfrm>
            <a:off x="7382275" y="5509804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UniRef100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B729A7-5116-B157-6E74-B544F13CF435}"/>
              </a:ext>
            </a:extLst>
          </p:cNvPr>
          <p:cNvSpPr txBox="1"/>
          <p:nvPr/>
        </p:nvSpPr>
        <p:spPr>
          <a:xfrm>
            <a:off x="9068974" y="5505705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UniRef90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743D9E-9558-4A4B-3C67-EB8727652EC4}"/>
              </a:ext>
            </a:extLst>
          </p:cNvPr>
          <p:cNvSpPr txBox="1"/>
          <p:nvPr/>
        </p:nvSpPr>
        <p:spPr>
          <a:xfrm>
            <a:off x="10698313" y="5509804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UniRef50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2AEC41-7FD3-AFFC-1B4B-02072C7D2286}"/>
              </a:ext>
            </a:extLst>
          </p:cNvPr>
          <p:cNvSpPr txBox="1"/>
          <p:nvPr/>
        </p:nvSpPr>
        <p:spPr>
          <a:xfrm>
            <a:off x="0" y="633478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Martin </a:t>
            </a:r>
            <a:r>
              <a:rPr lang="en-US" sz="1400" dirty="0" err="1"/>
              <a:t>Steinegger</a:t>
            </a:r>
            <a:r>
              <a:rPr lang="en-US" sz="1400" dirty="0"/>
              <a:t>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Nat. </a:t>
            </a:r>
            <a:r>
              <a:rPr lang="en-US" sz="1400" i="1" dirty="0" err="1"/>
              <a:t>Biotechnol</a:t>
            </a:r>
            <a:r>
              <a:rPr lang="en-US" sz="1400" i="1" dirty="0"/>
              <a:t>.</a:t>
            </a:r>
            <a:r>
              <a:rPr lang="en-US" sz="1400" dirty="0"/>
              <a:t>, 2017</a:t>
            </a:r>
          </a:p>
          <a:p>
            <a:r>
              <a:rPr lang="en-US" sz="1400" i="1" dirty="0"/>
              <a:t>https://</a:t>
            </a:r>
            <a:r>
              <a:rPr lang="en-US" sz="1400" i="1" dirty="0" err="1"/>
              <a:t>www.uniprot.org</a:t>
            </a:r>
            <a:r>
              <a:rPr lang="en-US" sz="1400" i="1" dirty="0"/>
              <a:t>/</a:t>
            </a:r>
            <a:r>
              <a:rPr lang="en-US" sz="1400" i="1" dirty="0" err="1"/>
              <a:t>uniref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116939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CB2BE-F2EF-0D2E-07DC-2AE6FA33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913F5-A144-429A-C115-4CAB445D2D01}"/>
              </a:ext>
            </a:extLst>
          </p:cNvPr>
          <p:cNvSpPr txBox="1"/>
          <p:nvPr/>
        </p:nvSpPr>
        <p:spPr>
          <a:xfrm>
            <a:off x="-1" y="136525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AutoDock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 Vina - affinity filter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B0400-7C51-BB4E-EF58-0B42960D6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16" y="1079500"/>
            <a:ext cx="2019300" cy="88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767A6D-C24E-A0A3-901E-90B4B9443C5C}"/>
              </a:ext>
            </a:extLst>
          </p:cNvPr>
          <p:cNvSpPr txBox="1"/>
          <p:nvPr/>
        </p:nvSpPr>
        <p:spPr>
          <a:xfrm>
            <a:off x="6531183" y="1968500"/>
            <a:ext cx="1838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Scoring function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DE926A-FB84-48B7-E8C5-5444A45F4456}"/>
              </a:ext>
            </a:extLst>
          </p:cNvPr>
          <p:cNvGrpSpPr/>
          <p:nvPr/>
        </p:nvGrpSpPr>
        <p:grpSpPr>
          <a:xfrm>
            <a:off x="8687692" y="1079500"/>
            <a:ext cx="2208903" cy="1072064"/>
            <a:chOff x="7574935" y="2447638"/>
            <a:chExt cx="1149675" cy="738664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CA80D91-846E-7DA5-D9D0-486EB43A1F32}"/>
                </a:ext>
              </a:extLst>
            </p:cNvPr>
            <p:cNvSpPr/>
            <p:nvPr/>
          </p:nvSpPr>
          <p:spPr>
            <a:xfrm>
              <a:off x="7574935" y="2447638"/>
              <a:ext cx="1149675" cy="73866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16957F3-C0FA-19B4-B537-015D4690E72B}"/>
                    </a:ext>
                  </a:extLst>
                </p:cNvPr>
                <p:cNvSpPr txBox="1"/>
                <p:nvPr/>
              </p:nvSpPr>
              <p:spPr>
                <a:xfrm>
                  <a:off x="7574937" y="2447638"/>
                  <a:ext cx="1131471" cy="7106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sz="1400" dirty="0"/>
                    <a:t>: atoms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1400" dirty="0"/>
                    <a:t>: atom types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a14:m>
                  <a:r>
                    <a:rPr lang="en-US" sz="1400" dirty="0"/>
                    <a:t>: interaction functions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a14:m>
                  <a:r>
                    <a:rPr lang="en-US" sz="1400" dirty="0"/>
                    <a:t>: interatomic distance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16957F3-C0FA-19B4-B537-015D4690E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4937" y="2447638"/>
                  <a:ext cx="1131471" cy="710671"/>
                </a:xfrm>
                <a:prstGeom prst="rect">
                  <a:avLst/>
                </a:prstGeom>
                <a:blipFill>
                  <a:blip r:embed="rId3"/>
                  <a:stretch>
                    <a:fillRect b="-2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B8515-DF8E-E64F-FAF8-D0140109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399" y="2516623"/>
            <a:ext cx="4318000" cy="3307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6AB559-0359-547D-A7DD-10AF32417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339" y="1079500"/>
            <a:ext cx="4755531" cy="47555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E72DA6-4646-E8FC-D824-F73239B1C88B}"/>
              </a:ext>
            </a:extLst>
          </p:cNvPr>
          <p:cNvSpPr txBox="1"/>
          <p:nvPr/>
        </p:nvSpPr>
        <p:spPr>
          <a:xfrm>
            <a:off x="1774944" y="6056879"/>
            <a:ext cx="8642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ultra-speed grid docking method, free energies of binding can be calculated.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5DC2CA-B959-F137-78E2-142C34904E69}"/>
              </a:ext>
            </a:extLst>
          </p:cNvPr>
          <p:cNvSpPr txBox="1"/>
          <p:nvPr/>
        </p:nvSpPr>
        <p:spPr>
          <a:xfrm>
            <a:off x="0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Oleg Trott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J </a:t>
            </a:r>
            <a:r>
              <a:rPr lang="en-US" sz="1400" i="1" dirty="0" err="1"/>
              <a:t>Comput</a:t>
            </a:r>
            <a:r>
              <a:rPr lang="en-US" sz="1400" i="1" dirty="0"/>
              <a:t> Chem.</a:t>
            </a:r>
            <a:r>
              <a:rPr lang="en-US" sz="1400" dirty="0"/>
              <a:t>, 2010</a:t>
            </a:r>
          </a:p>
        </p:txBody>
      </p:sp>
    </p:spTree>
    <p:extLst>
      <p:ext uri="{BB962C8B-B14F-4D97-AF65-F5344CB8AC3E}">
        <p14:creationId xmlns:p14="http://schemas.microsoft.com/office/powerpoint/2010/main" val="1586994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5585-19EC-CDFE-9C48-45BECD94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D148D-85BB-843F-14B4-BF9D97660C14}"/>
              </a:ext>
            </a:extLst>
          </p:cNvPr>
          <p:cNvSpPr txBox="1"/>
          <p:nvPr/>
        </p:nvSpPr>
        <p:spPr>
          <a:xfrm>
            <a:off x="-1" y="136525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AlphaFold 3 - final inspector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CD79CD9-3786-BD50-93B5-6C89ED524C8F}"/>
              </a:ext>
            </a:extLst>
          </p:cNvPr>
          <p:cNvGrpSpPr/>
          <p:nvPr/>
        </p:nvGrpSpPr>
        <p:grpSpPr>
          <a:xfrm>
            <a:off x="385448" y="957666"/>
            <a:ext cx="10709104" cy="5452654"/>
            <a:chOff x="22317" y="808839"/>
            <a:chExt cx="7573271" cy="385601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864339-FFBC-1227-8957-197EDCF272D0}"/>
                </a:ext>
              </a:extLst>
            </p:cNvPr>
            <p:cNvGrpSpPr/>
            <p:nvPr/>
          </p:nvGrpSpPr>
          <p:grpSpPr>
            <a:xfrm>
              <a:off x="22317" y="808839"/>
              <a:ext cx="7573271" cy="3856011"/>
              <a:chOff x="1140205" y="487168"/>
              <a:chExt cx="12541239" cy="6385506"/>
            </a:xfrm>
          </p:grpSpPr>
          <p:pic>
            <p:nvPicPr>
              <p:cNvPr id="9" name="图片 42">
                <a:extLst>
                  <a:ext uri="{FF2B5EF4-FFF2-40B4-BE49-F238E27FC236}">
                    <a16:creationId xmlns:a16="http://schemas.microsoft.com/office/drawing/2014/main" id="{80F072A6-4F7D-1DF0-17F9-28B1F157F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05899" y="733360"/>
                <a:ext cx="1581236" cy="44541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6B9C711-2F10-970A-FF59-D59C0CF948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0205" y="2096367"/>
                <a:ext cx="9977375" cy="232607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5A3EF41-603C-AFE2-CE8E-22A8A82AB5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7368" y="487168"/>
                <a:ext cx="7120621" cy="1576737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A502AC2-E557-E9FF-3434-A6D0B68AB7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7368" y="2083605"/>
                <a:ext cx="2815861" cy="92606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8E4BF1A-B9D7-5FB9-F5FA-761F3093AB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38499" y="2067240"/>
                <a:ext cx="2913735" cy="942424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03877D8-3A7F-774E-2572-5DAB3CEE0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60626" y="4018558"/>
                <a:ext cx="1300141" cy="74240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68C8A72-C286-7063-896A-925D7D045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39613" y="4018558"/>
                <a:ext cx="1100790" cy="742401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414D4A-6BFA-8418-B91B-963F86CDF095}"/>
                  </a:ext>
                </a:extLst>
              </p:cNvPr>
              <p:cNvSpPr/>
              <p:nvPr/>
            </p:nvSpPr>
            <p:spPr>
              <a:xfrm>
                <a:off x="1140205" y="2186360"/>
                <a:ext cx="335503" cy="31046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宋体" panose="02010600030101010101" pitchFamily="2" charset="-122"/>
                  <a:cs typeface="Helvetica Neue" panose="02000503000000020004" pitchFamily="2" charset="0"/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2114C5E-E339-FF93-89D3-355A55277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60626" y="4791819"/>
                <a:ext cx="3361105" cy="208085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0F1AE31-38C0-8C46-ABEF-1F59A8FF5863}"/>
                  </a:ext>
                </a:extLst>
              </p:cNvPr>
              <p:cNvSpPr/>
              <p:nvPr/>
            </p:nvSpPr>
            <p:spPr>
              <a:xfrm>
                <a:off x="6398125" y="4399272"/>
                <a:ext cx="98155" cy="10646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宋体" panose="02010600030101010101" pitchFamily="2" charset="-122"/>
                  <a:cs typeface="Helvetica Neue" panose="02000503000000020004" pitchFamily="2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F3665C-DC84-9F35-D99B-15A7AA631832}"/>
                  </a:ext>
                </a:extLst>
              </p:cNvPr>
              <p:cNvSpPr txBox="1"/>
              <p:nvPr/>
            </p:nvSpPr>
            <p:spPr>
              <a:xfrm>
                <a:off x="11117580" y="5356563"/>
                <a:ext cx="2563864" cy="1117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E994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Yellow: input data</a:t>
                </a:r>
              </a:p>
              <a:p>
                <a:r>
                  <a:rPr lang="en-US" sz="1400" dirty="0">
                    <a:solidFill>
                      <a:srgbClr val="243595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Blue: abstract network activations</a:t>
                </a:r>
              </a:p>
              <a:p>
                <a:r>
                  <a:rPr lang="en-US" sz="1400" dirty="0">
                    <a:solidFill>
                      <a:srgbClr val="298C2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Green: output data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3F2E50-30EC-C91E-1DD0-DDF6B8506F13}"/>
                  </a:ext>
                </a:extLst>
              </p:cNvPr>
              <p:cNvSpPr txBox="1"/>
              <p:nvPr/>
            </p:nvSpPr>
            <p:spPr>
              <a:xfrm>
                <a:off x="4025874" y="1640481"/>
                <a:ext cx="1438348" cy="396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 err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Pairformer</a:t>
                </a:r>
                <a:endParaRPr lang="en-US" sz="1600" b="1" i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A70650-38D7-AC10-74FC-3816CE9CEC90}"/>
                  </a:ext>
                </a:extLst>
              </p:cNvPr>
              <p:cNvSpPr txBox="1"/>
              <p:nvPr/>
            </p:nvSpPr>
            <p:spPr>
              <a:xfrm>
                <a:off x="8594786" y="4740021"/>
                <a:ext cx="2162366" cy="396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Diffusion Module</a:t>
                </a:r>
              </a:p>
            </p:txBody>
          </p:sp>
          <p:pic>
            <p:nvPicPr>
              <p:cNvPr id="22" name="Picture 21" descr="A diagram of a diagram&#10;&#10;AI-generated content may be incorrect.">
                <a:extLst>
                  <a:ext uri="{FF2B5EF4-FFF2-40B4-BE49-F238E27FC236}">
                    <a16:creationId xmlns:a16="http://schemas.microsoft.com/office/drawing/2014/main" id="{6E1108D7-544C-9392-082D-28A2F8D84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31935" y="4999872"/>
                <a:ext cx="5848125" cy="1651510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BB391B3-88AF-15EC-84F4-4985D91646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31935" y="3649187"/>
                <a:ext cx="3869104" cy="1284492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2E67336-C8E0-D158-4B7F-AB166AECB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2035" y="3649187"/>
                <a:ext cx="1396547" cy="1382649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486E8F-9091-1760-3D47-0DEB92D877B2}"/>
                  </a:ext>
                </a:extLst>
              </p:cNvPr>
              <p:cNvSpPr txBox="1"/>
              <p:nvPr/>
            </p:nvSpPr>
            <p:spPr>
              <a:xfrm>
                <a:off x="4367353" y="5518758"/>
                <a:ext cx="1674882" cy="3964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i="1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MSA Module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1DE0934-35E3-2D94-5629-A71F801A14CE}"/>
                </a:ext>
              </a:extLst>
            </p:cNvPr>
            <p:cNvSpPr/>
            <p:nvPr/>
          </p:nvSpPr>
          <p:spPr>
            <a:xfrm>
              <a:off x="3789825" y="3417646"/>
              <a:ext cx="45719" cy="75203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宋体" panose="02010600030101010101" pitchFamily="2" charset="-122"/>
                <a:cs typeface="Helvetica Neue" panose="02000503000000020004" pitchFamily="2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43F8A5-C033-3B35-4716-3014A65126AF}"/>
              </a:ext>
            </a:extLst>
          </p:cNvPr>
          <p:cNvSpPr txBox="1"/>
          <p:nvPr/>
        </p:nvSpPr>
        <p:spPr>
          <a:xfrm>
            <a:off x="9103360" y="3140245"/>
            <a:ext cx="2815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SOTA </a:t>
            </a:r>
            <a:r>
              <a:rPr lang="en-US" dirty="0" err="1"/>
              <a:t>cofolding</a:t>
            </a:r>
            <a:r>
              <a:rPr lang="en-US" dirty="0"/>
              <a:t> model.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62C38C-919C-9724-F251-A352F033A32F}"/>
              </a:ext>
            </a:extLst>
          </p:cNvPr>
          <p:cNvSpPr txBox="1"/>
          <p:nvPr/>
        </p:nvSpPr>
        <p:spPr>
          <a:xfrm>
            <a:off x="0" y="654562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Josh Abramson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i="1" dirty="0"/>
              <a:t>Nature.</a:t>
            </a:r>
            <a:r>
              <a:rPr lang="en-US" sz="14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860427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E732F-8352-6634-D581-F029AD0DA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9697B-EA48-9E59-DD6F-DCB0D3E6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AF434-46B0-4A71-9C9C-D02F2153E6EF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Table of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48A4F-681C-D4E5-0D77-94868847BEC2}"/>
              </a:ext>
            </a:extLst>
          </p:cNvPr>
          <p:cNvSpPr txBox="1"/>
          <p:nvPr/>
        </p:nvSpPr>
        <p:spPr>
          <a:xfrm>
            <a:off x="4428715" y="2305615"/>
            <a:ext cx="3334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Protein design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Project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Spaces to explore further</a:t>
            </a:r>
          </a:p>
        </p:txBody>
      </p:sp>
    </p:spTree>
    <p:extLst>
      <p:ext uri="{BB962C8B-B14F-4D97-AF65-F5344CB8AC3E}">
        <p14:creationId xmlns:p14="http://schemas.microsoft.com/office/powerpoint/2010/main" val="1796323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DF0DFA-CA1B-A49E-ED2B-29E4F42E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AC968-17B7-E9E6-75DA-06E7901542BD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Preliminaries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242CA-170F-B273-128A-37229C3D78EA}"/>
              </a:ext>
            </a:extLst>
          </p:cNvPr>
          <p:cNvSpPr txBox="1"/>
          <p:nvPr/>
        </p:nvSpPr>
        <p:spPr>
          <a:xfrm>
            <a:off x="2137102" y="1720840"/>
            <a:ext cx="79177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programming skills: Linux, Python, Anaconda, GitHub.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Software: any IDE that support command line and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Hardware: machine with sufficient CPU and GPU resources, fre</a:t>
            </a:r>
            <a:r>
              <a:rPr lang="en-US" altLang="zh-CN" dirty="0"/>
              <a:t>e disk space more than 50 GB (approximately)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 up for a Hugging Face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Internet: not so slow…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if possible, do not run on your own laptop.</a:t>
            </a:r>
          </a:p>
        </p:txBody>
      </p:sp>
    </p:spTree>
    <p:extLst>
      <p:ext uri="{BB962C8B-B14F-4D97-AF65-F5344CB8AC3E}">
        <p14:creationId xmlns:p14="http://schemas.microsoft.com/office/powerpoint/2010/main" val="1234322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51B0B0-4DFD-4EAE-5C06-CC16F174D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38874-047C-9438-AF5D-B6647F7887E5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Linux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inux logo - free Icon PNG, SVG">
            <a:extLst>
              <a:ext uri="{FF2B5EF4-FFF2-40B4-BE49-F238E27FC236}">
                <a16:creationId xmlns:a16="http://schemas.microsoft.com/office/drawing/2014/main" id="{863F0B17-BB70-AE65-B433-CCDF126C9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2512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05211B-1341-39C4-8295-A334E9B25A1A}"/>
              </a:ext>
            </a:extLst>
          </p:cNvPr>
          <p:cNvSpPr txBox="1"/>
          <p:nvPr/>
        </p:nvSpPr>
        <p:spPr>
          <a:xfrm>
            <a:off x="1289461" y="1344907"/>
            <a:ext cx="9613075" cy="437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What is Linux?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Linux is an open-source operating system (like Windows or macOS) that acts as the bridge between software and computer hardware.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Linux is highly customizable, modular, and designed for efficiency.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b="1" dirty="0"/>
              <a:t>Why Use Linux for Bioinformatics?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Scale</a:t>
            </a:r>
            <a:r>
              <a:rPr lang="en-US" dirty="0"/>
              <a:t>: Handles "Big Data" (millions of sequences) that would crash standard PCs.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Automation</a:t>
            </a:r>
            <a:r>
              <a:rPr lang="en-US" dirty="0"/>
              <a:t>: Uses Command Line (CLI) to process thousands of files with one script instead of manual clicking.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Software</a:t>
            </a:r>
            <a:r>
              <a:rPr lang="en-US" dirty="0"/>
              <a:t>: 90% of bioinformatics tools are built natively for Linux and are free to use.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HPC Ready</a:t>
            </a:r>
            <a:r>
              <a:rPr lang="en-US" dirty="0"/>
              <a:t>: The native language of Supercomputing Clusters; essential for heavy tasks like protein folding or alignment.</a:t>
            </a:r>
          </a:p>
        </p:txBody>
      </p:sp>
    </p:spTree>
    <p:extLst>
      <p:ext uri="{BB962C8B-B14F-4D97-AF65-F5344CB8AC3E}">
        <p14:creationId xmlns:p14="http://schemas.microsoft.com/office/powerpoint/2010/main" val="4201141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A86B4F-9266-48CA-4263-7A714E36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2DEE8-A56E-4837-DEB2-EFE07F17B886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dirty="0"/>
              <a:t>Anaconda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Download Anaconda for Cloudera">
            <a:extLst>
              <a:ext uri="{FF2B5EF4-FFF2-40B4-BE49-F238E27FC236}">
                <a16:creationId xmlns:a16="http://schemas.microsoft.com/office/drawing/2014/main" id="{9BDD99B6-C966-4116-882D-08E7CE1E8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09" y="132713"/>
            <a:ext cx="2810284" cy="140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D6FF9-BC9A-1BA2-F600-48AAC5361623}"/>
              </a:ext>
            </a:extLst>
          </p:cNvPr>
          <p:cNvSpPr txBox="1"/>
          <p:nvPr/>
        </p:nvSpPr>
        <p:spPr>
          <a:xfrm>
            <a:off x="1289461" y="1625984"/>
            <a:ext cx="9613075" cy="437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What is Anaconda?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Manager</a:t>
            </a:r>
            <a:r>
              <a:rPr lang="en-US" dirty="0"/>
              <a:t>: A tool that organizes Packages and Environments.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Hub</a:t>
            </a:r>
            <a:r>
              <a:rPr lang="en-US" dirty="0"/>
              <a:t>: Think of it as a specialized "App Store" for Python and R data science tools.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b="1" dirty="0"/>
              <a:t>Why Use Anaconda for Bioinformatics?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Fixes "Dependency Hell"</a:t>
            </a:r>
            <a:r>
              <a:rPr lang="en-US" dirty="0"/>
              <a:t>: Some bio-tools require specific versions of software that clash. Anaconda keeps them separate so they don't break each other.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Easy Installation</a:t>
            </a:r>
            <a:r>
              <a:rPr lang="en-US" dirty="0"/>
              <a:t>: Skip the complex "compiling" process. Use one command (</a:t>
            </a:r>
            <a:r>
              <a:rPr lang="en-US" dirty="0" err="1"/>
              <a:t>conda</a:t>
            </a:r>
            <a:r>
              <a:rPr lang="en-US" dirty="0"/>
              <a:t> install) to get complex tools working instantly.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Bioconda</a:t>
            </a:r>
            <a:r>
              <a:rPr lang="en-US" dirty="0"/>
              <a:t>: A massive, community-led library of 9,000+ pre-configured biological tools.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Reproducibility</a:t>
            </a:r>
            <a:r>
              <a:rPr lang="en-US" dirty="0"/>
              <a:t>: You can export your "environment" as a small file. Another scientist can use it to recreate your exact setup in seconds.</a:t>
            </a:r>
          </a:p>
        </p:txBody>
      </p:sp>
    </p:spTree>
    <p:extLst>
      <p:ext uri="{BB962C8B-B14F-4D97-AF65-F5344CB8AC3E}">
        <p14:creationId xmlns:p14="http://schemas.microsoft.com/office/powerpoint/2010/main" val="373212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FC462-ABAE-EAA6-7E53-6BF9C352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9D5A6-53E6-31D6-B7C8-7B553A86D49B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dirty="0" err="1"/>
              <a:t>Jupyter</a:t>
            </a:r>
            <a:r>
              <a:rPr lang="en-US" sz="3200" dirty="0"/>
              <a:t> Notebook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Project Jupyter - Wikipedia">
            <a:extLst>
              <a:ext uri="{FF2B5EF4-FFF2-40B4-BE49-F238E27FC236}">
                <a16:creationId xmlns:a16="http://schemas.microsoft.com/office/drawing/2014/main" id="{C356AA5C-0510-C80E-ECFD-094D11BD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98" y="132713"/>
            <a:ext cx="1409102" cy="163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D45A94-3DCB-2D71-1FC1-3E73888F287D}"/>
              </a:ext>
            </a:extLst>
          </p:cNvPr>
          <p:cNvSpPr txBox="1"/>
          <p:nvPr/>
        </p:nvSpPr>
        <p:spPr>
          <a:xfrm>
            <a:off x="1289461" y="1407775"/>
            <a:ext cx="9613075" cy="4736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b="1" dirty="0"/>
              <a:t>What is </a:t>
            </a:r>
            <a:r>
              <a:rPr lang="en-US" b="1" dirty="0" err="1"/>
              <a:t>Jupyter</a:t>
            </a:r>
            <a:r>
              <a:rPr lang="en-US" b="1" dirty="0"/>
              <a:t> Notebook?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The Canvas</a:t>
            </a:r>
            <a:r>
              <a:rPr lang="en-US" dirty="0"/>
              <a:t>: A web-based document that combines runnable code, text notes (Markdown), and data visualizations.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Cell-Based Execution</a:t>
            </a:r>
            <a:r>
              <a:rPr lang="en-US" dirty="0"/>
              <a:t>: Instead of running a whole script from top to bottom, you write and run code in independent blocks called "cells."</a:t>
            </a:r>
          </a:p>
          <a:p>
            <a:pPr>
              <a:lnSpc>
                <a:spcPct val="130000"/>
              </a:lnSpc>
            </a:pPr>
            <a:endParaRPr 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Why Use </a:t>
            </a:r>
            <a:r>
              <a:rPr lang="en-US" b="1" dirty="0" err="1"/>
              <a:t>Jupyter</a:t>
            </a:r>
            <a:r>
              <a:rPr lang="en-US" b="1" dirty="0"/>
              <a:t> Notebook for Bioinformatics?</a:t>
            </a:r>
            <a:endParaRPr 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Instant Feedback</a:t>
            </a:r>
            <a:r>
              <a:rPr lang="en-US" dirty="0"/>
              <a:t>: Run a block of Python or R code and see the resulting biological graph appear immediately beneath it.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Step-by-Step Troubleshooting</a:t>
            </a:r>
            <a:r>
              <a:rPr lang="en-US" dirty="0"/>
              <a:t>: If step 5 of your analysis fails, you only need to fix and re-run cell 5. You do not have to re-run steps 1-4, saving hours of data processing time.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Scientific Storytelling</a:t>
            </a:r>
            <a:r>
              <a:rPr lang="en-US" dirty="0"/>
              <a:t>: Integrate your raw code, the output graphs, and your written conclusions into one unified file.</a:t>
            </a:r>
          </a:p>
        </p:txBody>
      </p:sp>
    </p:spTree>
    <p:extLst>
      <p:ext uri="{BB962C8B-B14F-4D97-AF65-F5344CB8AC3E}">
        <p14:creationId xmlns:p14="http://schemas.microsoft.com/office/powerpoint/2010/main" val="2058769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98E97-8AE6-DD36-2E07-453F01260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60CB7-9C78-3E09-33FE-F11D60FC3D94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0: setup the codebase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CE647-8198-7877-78FC-9514F85EE7F1}"/>
              </a:ext>
            </a:extLst>
          </p:cNvPr>
          <p:cNvSpPr txBox="1"/>
          <p:nvPr/>
        </p:nvSpPr>
        <p:spPr>
          <a:xfrm>
            <a:off x="1143704" y="2336393"/>
            <a:ext cx="9904589" cy="2451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Download Anaconda if not yet: </a:t>
            </a:r>
            <a:r>
              <a:rPr lang="en-US" sz="1400" dirty="0">
                <a:solidFill>
                  <a:prstClr val="black"/>
                </a:solidFill>
                <a:highlight>
                  <a:srgbClr val="C0C0C0"/>
                </a:highlight>
                <a:latin typeface="Monaco" pitchFamily="2" charset="77"/>
              </a:rPr>
              <a:t>https://</a:t>
            </a:r>
            <a:r>
              <a:rPr lang="en-US" sz="1400" dirty="0" err="1">
                <a:solidFill>
                  <a:prstClr val="black"/>
                </a:solidFill>
                <a:highlight>
                  <a:srgbClr val="C0C0C0"/>
                </a:highlight>
                <a:latin typeface="Monaco" pitchFamily="2" charset="77"/>
              </a:rPr>
              <a:t>www.anaconda.com</a:t>
            </a:r>
            <a:r>
              <a:rPr lang="en-US" sz="1400" dirty="0">
                <a:solidFill>
                  <a:prstClr val="black"/>
                </a:solidFill>
                <a:highlight>
                  <a:srgbClr val="C0C0C0"/>
                </a:highlight>
                <a:latin typeface="Monaco" pitchFamily="2" charset="77"/>
              </a:rPr>
              <a:t>/docs/getting-started/anaconda/install/overview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prstClr val="black"/>
              </a:solidFill>
              <a:highlight>
                <a:srgbClr val="C0C0C0"/>
              </a:highlight>
              <a:latin typeface="Monaco" pitchFamily="2" charset="77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Change to the path you want to implement this project: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cd path</a:t>
            </a: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Clone the codebase for this project: 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git clone https://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github.com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yiyanliao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/GST-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Design.git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Change directory to the project codebase: </a:t>
            </a:r>
            <a:r>
              <a:rPr lang="en-US" sz="1400" dirty="0">
                <a:solidFill>
                  <a:prstClr val="black"/>
                </a:solidFill>
                <a:highlight>
                  <a:srgbClr val="C0C0C0"/>
                </a:highlight>
                <a:latin typeface="Monaco" pitchFamily="2" charset="77"/>
              </a:rPr>
              <a:t>cd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 GST-Design</a:t>
            </a:r>
          </a:p>
        </p:txBody>
      </p:sp>
    </p:spTree>
    <p:extLst>
      <p:ext uri="{BB962C8B-B14F-4D97-AF65-F5344CB8AC3E}">
        <p14:creationId xmlns:p14="http://schemas.microsoft.com/office/powerpoint/2010/main" val="1898746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6DFE9-E453-8791-C30C-72E9FA54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F6811-0ABD-4BA4-2375-21E54E0A19F9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1: ESM3 candidate generation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80B0C-DC0E-189B-FD61-F8AA1B5848B8}"/>
              </a:ext>
            </a:extLst>
          </p:cNvPr>
          <p:cNvSpPr txBox="1"/>
          <p:nvPr/>
        </p:nvSpPr>
        <p:spPr>
          <a:xfrm>
            <a:off x="1211677" y="843944"/>
            <a:ext cx="10142123" cy="574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Setup the environment for ESM3: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create -n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python=3.14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pip install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Due to network issues in China, we have to download checkpoints for ESM3 beforehand and "hack" ESM3 source code: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ESM3 model download (you may try this several times):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hf auth login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hf download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EvolutionaryScale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/esm3-sm-open-v1 --local-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dir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esm3-sm-open-v1</a:t>
            </a: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"Hack" ESM3 source code:</a:t>
            </a:r>
          </a:p>
          <a:p>
            <a:pPr>
              <a:lnSpc>
                <a:spcPct val="114000"/>
              </a:lnSpc>
            </a:pPr>
            <a:r>
              <a:rPr lang="en-US" dirty="0"/>
              <a:t>change 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/path/to/anaconda3/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envs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/lib/python3.14/site-packages/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/utils/constants/esm3.py line 105</a:t>
            </a:r>
          </a:p>
          <a:p>
            <a:pPr>
              <a:lnSpc>
                <a:spcPct val="114000"/>
              </a:lnSpc>
            </a:pPr>
            <a:r>
              <a:rPr lang="en-US" dirty="0"/>
              <a:t>from: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path = Path(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snapshot_download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(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repo_id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="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EvolutionaryScale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/esm3-sm-open-v1"))</a:t>
            </a:r>
          </a:p>
          <a:p>
            <a:pPr>
              <a:lnSpc>
                <a:spcPct val="114000"/>
              </a:lnSpc>
            </a:pPr>
            <a:r>
              <a:rPr lang="en-US" dirty="0"/>
              <a:t>to: 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path = Path("/path/to/esm3-sm-open-v1")</a:t>
            </a:r>
          </a:p>
          <a:p>
            <a:pPr>
              <a:lnSpc>
                <a:spcPct val="114000"/>
              </a:lnSpc>
            </a:pP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</a:rPr>
              <a:t>OR: just </a:t>
            </a:r>
            <a:r>
              <a:rPr lang="en-US" sz="1400" b="1" dirty="0">
                <a:solidFill>
                  <a:srgbClr val="FF0000"/>
                </a:solidFill>
                <a:highlight>
                  <a:srgbClr val="C0C0C0"/>
                </a:highlight>
                <a:latin typeface="Monaco" pitchFamily="2" charset="77"/>
              </a:rPr>
              <a:t>export HF_ENDPOINT=https://hf-</a:t>
            </a:r>
            <a:r>
              <a:rPr lang="en-US" sz="1400" b="1" dirty="0" err="1">
                <a:solidFill>
                  <a:srgbClr val="FF0000"/>
                </a:solidFill>
                <a:highlight>
                  <a:srgbClr val="C0C0C0"/>
                </a:highlight>
                <a:latin typeface="Monaco" pitchFamily="2" charset="77"/>
              </a:rPr>
              <a:t>mirror.com</a:t>
            </a:r>
            <a:r>
              <a:rPr lang="en-US" b="1" dirty="0">
                <a:solidFill>
                  <a:srgbClr val="FF0000"/>
                </a:solidFill>
              </a:rPr>
              <a:t> after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hf auth login</a:t>
            </a:r>
          </a:p>
        </p:txBody>
      </p:sp>
    </p:spTree>
    <p:extLst>
      <p:ext uri="{BB962C8B-B14F-4D97-AF65-F5344CB8AC3E}">
        <p14:creationId xmlns:p14="http://schemas.microsoft.com/office/powerpoint/2010/main" val="836766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EEC4BA-5364-525D-7C38-1738C386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FFC39-2F98-CAB9-89A8-017707A7579E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1: ESM3 candidate generation</a:t>
            </a:r>
            <a:endParaRPr lang="en-US" sz="3200" dirty="0">
              <a:solidFill>
                <a:prstClr val="black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B1A6E-91D4-25C9-BE57-BF804EA1E92C}"/>
              </a:ext>
            </a:extLst>
          </p:cNvPr>
          <p:cNvSpPr txBox="1"/>
          <p:nvPr/>
        </p:nvSpPr>
        <p:spPr>
          <a:xfrm>
            <a:off x="2319863" y="860827"/>
            <a:ext cx="8060270" cy="118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Generate 1000 potential candidates compiled with structural metrics: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python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src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/ESM3_generate.py --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num_sequences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1000 --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batch_size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8</a:t>
            </a:r>
          </a:p>
          <a:p>
            <a:pPr>
              <a:lnSpc>
                <a:spcPct val="114000"/>
              </a:lnSpc>
            </a:pPr>
            <a:r>
              <a:rPr lang="en-US" dirty="0"/>
              <a:t>The sequences will be saved in 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generated_sequences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_&lt;time&gt;.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fasta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555AB-4971-0339-EC30-896C6533F6F7}"/>
              </a:ext>
            </a:extLst>
          </p:cNvPr>
          <p:cNvSpPr txBox="1"/>
          <p:nvPr/>
        </p:nvSpPr>
        <p:spPr>
          <a:xfrm>
            <a:off x="1811867" y="1985459"/>
            <a:ext cx="904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loading -&gt; template loading -&gt; prompt construction -&gt; generation -&gt; post-filtering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08DD06-B7BA-B224-4FF4-35BBAE93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69" y="3593339"/>
            <a:ext cx="2462134" cy="742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8D24DD-8681-2A7F-1ED6-35AA731FF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7" y="4405304"/>
            <a:ext cx="4139598" cy="742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A72BFA-125D-6AF9-B4E7-150FDFC97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702" y="2470802"/>
            <a:ext cx="3343946" cy="1869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A0BBB1-269B-7EB8-EA0A-CDE5B6AEF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702" y="4384677"/>
            <a:ext cx="3493223" cy="23221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A9CF822-3599-037D-D55C-5C7C14037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397" y="2787426"/>
            <a:ext cx="3183467" cy="1857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191A42-8058-E1BA-0AD9-55202ED684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3516" y="4875290"/>
            <a:ext cx="4125671" cy="17174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766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C61ED-653F-FD42-02BE-D4DF86EE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25D3D-8C0C-C1AB-F1A3-6020638B9FF5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2: </a:t>
            </a:r>
            <a:r>
              <a:rPr lang="en-US" sz="3200" dirty="0" err="1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ESMFold</a:t>
            </a:r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 refolding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2EB59-D331-051A-315D-24EF39BDF9EC}"/>
              </a:ext>
            </a:extLst>
          </p:cNvPr>
          <p:cNvSpPr txBox="1"/>
          <p:nvPr/>
        </p:nvSpPr>
        <p:spPr>
          <a:xfrm>
            <a:off x="1321034" y="670856"/>
            <a:ext cx="9549929" cy="255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Setup the environment for </a:t>
            </a:r>
            <a:r>
              <a:rPr lang="en-US" dirty="0" err="1"/>
              <a:t>ESMFold</a:t>
            </a:r>
            <a:r>
              <a:rPr lang="en-US" dirty="0"/>
              <a:t>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env create -f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esmfold_environment.yaml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-fold -h</a:t>
            </a:r>
          </a:p>
          <a:p>
            <a:pPr>
              <a:lnSpc>
                <a:spcPct val="114000"/>
              </a:lnSpc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the sequences based on foldability with </a:t>
            </a:r>
            <a:r>
              <a:rPr lang="en-US" dirty="0" err="1"/>
              <a:t>ESMFold</a:t>
            </a:r>
            <a:r>
              <a:rPr lang="en-US" dirty="0"/>
              <a:t>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python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src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ESMFold_filter.py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--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sequences_file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generated_sequences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_&lt;time&gt;.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fasta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dirty="0"/>
              <a:t>The sequences will be saved in 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esmfold_filtered_sequences.fasta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61833-CF79-027B-7917-5AB5A9AC647F}"/>
              </a:ext>
            </a:extLst>
          </p:cNvPr>
          <p:cNvSpPr txBox="1"/>
          <p:nvPr/>
        </p:nvSpPr>
        <p:spPr>
          <a:xfrm>
            <a:off x="906129" y="3205386"/>
            <a:ext cx="103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loading -&gt; sequence processing -&gt; generation -&gt; confidence metric extraction -&gt; post-filtering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4B7B3C-D80C-353C-EB2E-05D0936E2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33" y="3648998"/>
            <a:ext cx="2847633" cy="4477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1CAA07-A65D-5EB4-9571-BB343747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632" y="4245854"/>
            <a:ext cx="4303713" cy="23909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ED5A53-9A8A-D7C4-89F1-9706CF93F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667" y="3648998"/>
            <a:ext cx="2847633" cy="617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9F8FB0-E43B-EC05-D9DE-790D5CEF0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67" y="4386558"/>
            <a:ext cx="5525900" cy="1432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F3ACED-8632-6475-9788-2E7AF4EDA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6667" y="5884229"/>
            <a:ext cx="3835416" cy="8655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E372FF-FCAE-A4DE-6755-ACD3ED9BF81E}"/>
              </a:ext>
            </a:extLst>
          </p:cNvPr>
          <p:cNvSpPr txBox="1"/>
          <p:nvPr/>
        </p:nvSpPr>
        <p:spPr>
          <a:xfrm>
            <a:off x="6798941" y="1168132"/>
            <a:ext cx="5393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highlight>
                  <a:srgbClr val="C0C0C0"/>
                </a:highlight>
                <a:latin typeface="Monaco" pitchFamily="2" charset="77"/>
              </a:rPr>
              <a:t>esmfold_environment_5090.yaml</a:t>
            </a:r>
            <a:r>
              <a:rPr lang="en-US" b="1" dirty="0">
                <a:solidFill>
                  <a:srgbClr val="FF0000"/>
                </a:solidFill>
              </a:rPr>
              <a:t> and </a:t>
            </a:r>
            <a:r>
              <a:rPr lang="en-US" sz="1400" b="1" dirty="0">
                <a:solidFill>
                  <a:srgbClr val="FF0000"/>
                </a:solidFill>
                <a:highlight>
                  <a:srgbClr val="C0C0C0"/>
                </a:highlight>
                <a:latin typeface="Monaco" pitchFamily="2" charset="77"/>
              </a:rPr>
              <a:t>ESMFold_filter_5090.py</a:t>
            </a:r>
            <a:r>
              <a:rPr lang="en-US" b="1" dirty="0">
                <a:solidFill>
                  <a:srgbClr val="FF0000"/>
                </a:solidFill>
              </a:rPr>
              <a:t> were added for usage.</a:t>
            </a:r>
          </a:p>
        </p:txBody>
      </p:sp>
    </p:spTree>
    <p:extLst>
      <p:ext uri="{BB962C8B-B14F-4D97-AF65-F5344CB8AC3E}">
        <p14:creationId xmlns:p14="http://schemas.microsoft.com/office/powerpoint/2010/main" val="2049124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23CCA-3B76-D132-8E47-0F5F2E14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5B107-3125-6FD0-5056-E24860FB22E2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3: MMseqs2 identity filtering</a:t>
            </a:r>
            <a:endParaRPr lang="en-US" sz="3200" dirty="0">
              <a:solidFill>
                <a:prstClr val="black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D70C7-63B2-82F3-C9F4-B43B625936DA}"/>
              </a:ext>
            </a:extLst>
          </p:cNvPr>
          <p:cNvSpPr txBox="1"/>
          <p:nvPr/>
        </p:nvSpPr>
        <p:spPr>
          <a:xfrm>
            <a:off x="1321034" y="1073118"/>
            <a:ext cx="9549929" cy="543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Setup the environment for MMseqs2: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create -n mmseqs2 -c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-forge -c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bioconda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python=3.9 mmseqs2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mmseqs2</a:t>
            </a:r>
          </a:p>
          <a:p>
            <a:pPr>
              <a:lnSpc>
                <a:spcPct val="114000"/>
              </a:lnSpc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Download UniRef90 database (~ 40 GB):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mmseqs2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mmseqs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databases UniRef90 uniref90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tmp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Due to network, consider use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mmseqs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 databases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UniProtKB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/Swiss-Prot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swissprot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LnTx/>
                <a:uFillTx/>
                <a:latin typeface="Monaco" pitchFamily="2" charset="77"/>
                <a:ea typeface="+mn-ea"/>
                <a:cs typeface="+mn-cs"/>
              </a:rPr>
              <a:t>tmp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demo.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 the identity of candidates towards UniRef90 and collect the ones &lt;50% or have no hit: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mmseqs2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mmseqs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easy-search --alignment-mode 3 -s 7 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esmfold_filtered_sequences.fasta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uniref90 ./output/esmfold_filtered_sequences.m8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tmp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python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src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/UniRef90_filter.py --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fasta_file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esmfold_filtered_sequences.fasta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--m8_file ./output/esmfold_filtered_sequences.m8 --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identity_threshold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0.5</a:t>
            </a:r>
          </a:p>
          <a:p>
            <a:pPr>
              <a:lnSpc>
                <a:spcPct val="114000"/>
              </a:lnSpc>
            </a:pPr>
            <a:endParaRPr lang="en-US" dirty="0"/>
          </a:p>
          <a:p>
            <a:pPr>
              <a:lnSpc>
                <a:spcPct val="114000"/>
              </a:lnSpc>
            </a:pPr>
            <a:r>
              <a:rPr lang="en-US" dirty="0"/>
              <a:t>The sequences will be saved in 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./output/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identity_filtered_sequences.fasta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58299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0D77C6-DDAC-0A36-1314-402B8BB9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0D5BA-E037-620A-1A81-B29053E31D73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4: molecular docking</a:t>
            </a:r>
            <a:endParaRPr lang="en-US" sz="3200" dirty="0">
              <a:solidFill>
                <a:prstClr val="black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4C107-B537-E3AD-2B04-F3EBFB9660A7}"/>
              </a:ext>
            </a:extLst>
          </p:cNvPr>
          <p:cNvSpPr txBox="1"/>
          <p:nvPr/>
        </p:nvSpPr>
        <p:spPr>
          <a:xfrm>
            <a:off x="1321032" y="1317053"/>
            <a:ext cx="9549929" cy="3721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/>
              <a:t>Setup the environment for </a:t>
            </a:r>
            <a:r>
              <a:rPr lang="en-US" dirty="0" err="1"/>
              <a:t>AutoDock</a:t>
            </a:r>
            <a:r>
              <a:rPr lang="en-US" dirty="0"/>
              <a:t>-Vina: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create -n vina python=3.10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vina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install -c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-forge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numpy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swig boost-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cpp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libboost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sphinx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sphinx_rtd_theme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pip install -U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numpy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scipy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rdkit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vina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meeko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gemmi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prody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install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bioconda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::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autodock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-vina</a:t>
            </a:r>
          </a:p>
          <a:p>
            <a:pPr>
              <a:lnSpc>
                <a:spcPct val="114000"/>
              </a:lnSpc>
            </a:pP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 marL="285750" lvl="0" indent="-285750">
              <a:lnSpc>
                <a:spcPct val="114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Molecular docking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conda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activate vina</a:t>
            </a:r>
          </a:p>
          <a:p>
            <a:pPr>
              <a:lnSpc>
                <a:spcPct val="114000"/>
              </a:lnSpc>
            </a:pP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mkdir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molecular_docking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cd 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molecular_docking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cp ../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src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molecular_docking.ipynb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 .</a:t>
            </a:r>
          </a:p>
          <a:p>
            <a:pPr>
              <a:lnSpc>
                <a:spcPct val="114000"/>
              </a:lnSpc>
            </a:pP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  <a:p>
            <a:pPr>
              <a:lnSpc>
                <a:spcPct val="114000"/>
              </a:lnSpc>
            </a:pPr>
            <a:r>
              <a:rPr lang="en-US" dirty="0"/>
              <a:t>then run 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molecular_docking</a:t>
            </a:r>
            <a:r>
              <a:rPr lang="en-US" sz="1400" dirty="0">
                <a:highlight>
                  <a:srgbClr val="C0C0C0"/>
                </a:highlight>
                <a:latin typeface="Monaco" pitchFamily="2" charset="77"/>
              </a:rPr>
              <a:t>/</a:t>
            </a:r>
            <a:r>
              <a:rPr lang="en-US" sz="1400" dirty="0" err="1">
                <a:highlight>
                  <a:srgbClr val="C0C0C0"/>
                </a:highlight>
                <a:latin typeface="Monaco" pitchFamily="2" charset="77"/>
              </a:rPr>
              <a:t>molecular_docking.ipynb</a:t>
            </a:r>
            <a:r>
              <a:rPr lang="en-US" dirty="0"/>
              <a:t> step by step.</a:t>
            </a:r>
            <a:endParaRPr lang="en-US" sz="1400" dirty="0">
              <a:highlight>
                <a:srgbClr val="C0C0C0"/>
              </a:highlight>
              <a:latin typeface="Monaco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0E1B4A-6BAD-E322-095C-5FB9BBC32A3B}"/>
              </a:ext>
            </a:extLst>
          </p:cNvPr>
          <p:cNvSpPr txBox="1"/>
          <p:nvPr/>
        </p:nvSpPr>
        <p:spPr>
          <a:xfrm>
            <a:off x="1067217" y="5536872"/>
            <a:ext cx="10057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preprocessing -&gt; superimposition -&gt; locate docking box -&gt; prepare ligand and proteins -&gt; docking</a:t>
            </a:r>
          </a:p>
        </p:txBody>
      </p:sp>
    </p:spTree>
    <p:extLst>
      <p:ext uri="{BB962C8B-B14F-4D97-AF65-F5344CB8AC3E}">
        <p14:creationId xmlns:p14="http://schemas.microsoft.com/office/powerpoint/2010/main" val="423728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42B265-6729-3700-42B9-65FD73EB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AEBF6-1C2E-3C8F-FC26-766F133216DD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5: AlphaFold 3 co-folding</a:t>
            </a:r>
            <a:endParaRPr lang="en-US" sz="3200" dirty="0">
              <a:solidFill>
                <a:prstClr val="black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9797C-5BBC-AB12-9230-9E6C6AE70095}"/>
              </a:ext>
            </a:extLst>
          </p:cNvPr>
          <p:cNvSpPr txBox="1"/>
          <p:nvPr/>
        </p:nvSpPr>
        <p:spPr>
          <a:xfrm>
            <a:off x="2547618" y="3105834"/>
            <a:ext cx="7096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configuration and hardware requirements may be challenging; please send me your candidate sequences.</a:t>
            </a:r>
          </a:p>
        </p:txBody>
      </p:sp>
    </p:spTree>
    <p:extLst>
      <p:ext uri="{BB962C8B-B14F-4D97-AF65-F5344CB8AC3E}">
        <p14:creationId xmlns:p14="http://schemas.microsoft.com/office/powerpoint/2010/main" val="10174599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D87D55-C5E4-1559-C9C1-16C4F1D7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203D9-56E2-A4FB-E647-0084128741BF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Step 6: Visualization</a:t>
            </a:r>
            <a:endParaRPr lang="en-US" sz="3200" dirty="0">
              <a:solidFill>
                <a:prstClr val="black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58AFF-346A-34F8-2278-39535554C79B}"/>
              </a:ext>
            </a:extLst>
          </p:cNvPr>
          <p:cNvSpPr txBox="1"/>
          <p:nvPr/>
        </p:nvSpPr>
        <p:spPr>
          <a:xfrm>
            <a:off x="1665940" y="1954269"/>
            <a:ext cx="8860118" cy="2949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ChimeraX</a:t>
            </a:r>
            <a:r>
              <a:rPr lang="en-US" dirty="0"/>
              <a:t> has been installed on Linux machine for visualization, you can use with: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ESMFold</a:t>
            </a:r>
            <a:r>
              <a:rPr lang="en-US" dirty="0"/>
              <a:t>-generated protein PDBs.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/>
              <a:t>VinaDock</a:t>
            </a:r>
            <a:r>
              <a:rPr lang="en-US" dirty="0"/>
              <a:t> results.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AlphaFold 3 results.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You can also use </a:t>
            </a:r>
            <a:r>
              <a:rPr lang="en-US" dirty="0" err="1"/>
              <a:t>PyMol</a:t>
            </a:r>
            <a:r>
              <a:rPr lang="en-US" dirty="0"/>
              <a:t> if you want to.</a:t>
            </a:r>
          </a:p>
        </p:txBody>
      </p:sp>
    </p:spTree>
    <p:extLst>
      <p:ext uri="{BB962C8B-B14F-4D97-AF65-F5344CB8AC3E}">
        <p14:creationId xmlns:p14="http://schemas.microsoft.com/office/powerpoint/2010/main" val="2676770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34EA5-0254-2D66-D600-B37CC328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76BB4-2080-4689-6907-288A6EE1D391}"/>
              </a:ext>
            </a:extLst>
          </p:cNvPr>
          <p:cNvSpPr txBox="1"/>
          <p:nvPr/>
        </p:nvSpPr>
        <p:spPr>
          <a:xfrm>
            <a:off x="-1" y="136525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hings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 you need to write in your report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14C8B-9D07-30E5-4E17-056AA4F1ECE8}"/>
              </a:ext>
            </a:extLst>
          </p:cNvPr>
          <p:cNvSpPr txBox="1"/>
          <p:nvPr/>
        </p:nvSpPr>
        <p:spPr>
          <a:xfrm>
            <a:off x="2582858" y="2026372"/>
            <a:ext cx="7026282" cy="2805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command lines you ran in each step.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number of sequences you retained in each step.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Sequences and computational metrics of final candidates.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Your selections and understandings about parameters.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At least one visualization case using </a:t>
            </a:r>
            <a:r>
              <a:rPr lang="en-US" sz="2000" dirty="0" err="1"/>
              <a:t>ChimeraX</a:t>
            </a:r>
            <a:r>
              <a:rPr lang="en-US" sz="2000" dirty="0"/>
              <a:t>/</a:t>
            </a:r>
            <a:r>
              <a:rPr lang="en-US" sz="2000" dirty="0" err="1"/>
              <a:t>PyMol</a:t>
            </a:r>
            <a:r>
              <a:rPr lang="en-US" sz="2000" dirty="0"/>
              <a:t>/….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564765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7F68-D99C-7945-4EE1-5BF2B261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5F4-BF8F-4F28-4A6B-532F1CBC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F78E6-142F-BEFE-A348-817BBD8873E6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Table of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6A955-13F5-3245-F816-8B66CA9BB28A}"/>
              </a:ext>
            </a:extLst>
          </p:cNvPr>
          <p:cNvSpPr txBox="1"/>
          <p:nvPr/>
        </p:nvSpPr>
        <p:spPr>
          <a:xfrm>
            <a:off x="4428715" y="2305615"/>
            <a:ext cx="3334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Protein design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Project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Spaces to explore further</a:t>
            </a:r>
          </a:p>
        </p:txBody>
      </p:sp>
    </p:spTree>
    <p:extLst>
      <p:ext uri="{BB962C8B-B14F-4D97-AF65-F5344CB8AC3E}">
        <p14:creationId xmlns:p14="http://schemas.microsoft.com/office/powerpoint/2010/main" val="3984081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8EA57-1926-874E-916F-27423938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5095-8595-CC43-BED5-D8EDAD2AEA94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3F244-6A24-6C59-E603-958D3D472DF9}"/>
              </a:ext>
            </a:extLst>
          </p:cNvPr>
          <p:cNvSpPr txBox="1"/>
          <p:nvPr/>
        </p:nvSpPr>
        <p:spPr>
          <a:xfrm>
            <a:off x="-1" y="132713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Spaces to explore further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1A346-A86E-3A72-10CD-E432C1181403}"/>
              </a:ext>
            </a:extLst>
          </p:cNvPr>
          <p:cNvSpPr txBox="1"/>
          <p:nvPr/>
        </p:nvSpPr>
        <p:spPr>
          <a:xfrm>
            <a:off x="1934853" y="1997839"/>
            <a:ext cx="83222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Change generator with structure-based models (e.g., RFD3), which can make the candidates more novel and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more metrics to filter the candidates (e.g. refolding consistence, PDB highest similarity, …).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Introduce molecular dynamics and more for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818911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39A7D-9045-4B25-01F1-6E8A3A01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68D86B-9017-FB13-DABE-A86DB561C052}"/>
              </a:ext>
            </a:extLst>
          </p:cNvPr>
          <p:cNvSpPr txBox="1"/>
          <p:nvPr/>
        </p:nvSpPr>
        <p:spPr>
          <a:xfrm>
            <a:off x="2194940" y="2219852"/>
            <a:ext cx="7802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E432A9-4974-AD52-E76E-A66C3BB14A7C}"/>
              </a:ext>
            </a:extLst>
          </p:cNvPr>
          <p:cNvSpPr txBox="1"/>
          <p:nvPr/>
        </p:nvSpPr>
        <p:spPr>
          <a:xfrm>
            <a:off x="3608780" y="3931453"/>
            <a:ext cx="49744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Yiyan Liao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School of Life Sciences, Peking University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fld id="{734E8296-E42A-0047-98AE-DBE8C224DB9D}" type="datetime1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4/12/26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F8400-16A8-2575-5E2D-B7E21CFB89F6}"/>
              </a:ext>
            </a:extLst>
          </p:cNvPr>
          <p:cNvSpPr txBox="1"/>
          <p:nvPr/>
        </p:nvSpPr>
        <p:spPr>
          <a:xfrm>
            <a:off x="252282" y="154813"/>
            <a:ext cx="4294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2026 Spring Biochemistry Lab</a:t>
            </a:r>
          </a:p>
        </p:txBody>
      </p:sp>
    </p:spTree>
    <p:extLst>
      <p:ext uri="{BB962C8B-B14F-4D97-AF65-F5344CB8AC3E}">
        <p14:creationId xmlns:p14="http://schemas.microsoft.com/office/powerpoint/2010/main" val="3267129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2010</Words>
  <Application>Microsoft Macintosh PowerPoint</Application>
  <PresentationFormat>Widescreen</PresentationFormat>
  <Paragraphs>328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Arial</vt:lpstr>
      <vt:lpstr>Cambria Math</vt:lpstr>
      <vt:lpstr>Courier New</vt:lpstr>
      <vt:lpstr>Helvetica Neue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Yiyan Liao</dc:creator>
  <cp:lastModifiedBy>Yiyan Liao</cp:lastModifiedBy>
  <cp:revision>342</cp:revision>
  <dcterms:created xsi:type="dcterms:W3CDTF">2026-03-11T07:50:24Z</dcterms:created>
  <dcterms:modified xsi:type="dcterms:W3CDTF">2026-04-12T06:41:55Z</dcterms:modified>
</cp:coreProperties>
</file>